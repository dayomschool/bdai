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제거 시 PR-AUC</c:v>
                </c:pt>
              </c:strCache>
            </c:strRef>
          </c:tx>
          <c:spPr>
            <a:solidFill>
              <a:srgbClr val="D6455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6455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6455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6455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B33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A98A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A98A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A98A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8A98A8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8A98A8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8A98A8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8A98A8"/>
              </a:solidFill>
              <a:effectLst/>
            </c:spPr>
          </c:dPt>
          <c:cat>
            <c:multiLvlStrRef>
              <c:f>Sheet1!$A$2:$A$12</c:f>
              <c:multiLvlStrCache>
                <c:ptCount val="11"/>
                <c:lvl>
                  <c:pt idx="0">
                    <c:v>category</c:v>
                  </c:pt>
                  <c:pt idx="1">
                    <c:v>recent_24h
high_amt</c:v>
                  </c:pt>
                  <c:pt idx="2">
                    <c:v>trans_hour</c:v>
                  </c:pt>
                  <c:pt idx="3">
                    <c:v>age</c:v>
                  </c:pt>
                  <c:pt idx="4">
                    <c:v>amt</c:v>
                  </c:pt>
                  <c:pt idx="5">
                    <c:v>prior_normal
median_amt</c:v>
                  </c:pt>
                  <c:pt idx="6">
                    <c:v>amt_zscore
card</c:v>
                  </c:pt>
                  <c:pt idx="7">
                    <c:v>rolling_sum
amt_1h</c:v>
                  </c:pt>
                  <c:pt idx="8">
                    <c:v>high_speed</c:v>
                  </c:pt>
                  <c:pt idx="9">
                    <c:v>count_30min</c:v>
                  </c:pt>
                  <c:pt idx="10">
                    <c:v>amt_to_prior
median_ratio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0.9104</c:v>
                </c:pt>
                <c:pt idx="1">
                  <c:v>0.9398</c:v>
                </c:pt>
                <c:pt idx="2">
                  <c:v>0.9409</c:v>
                </c:pt>
                <c:pt idx="3">
                  <c:v>0.9635</c:v>
                </c:pt>
                <c:pt idx="4">
                  <c:v>0.9734</c:v>
                </c:pt>
                <c:pt idx="5">
                  <c:v>0.9746</c:v>
                </c:pt>
                <c:pt idx="6">
                  <c:v>0.9753</c:v>
                </c:pt>
                <c:pt idx="7">
                  <c:v>0.9756</c:v>
                </c:pt>
                <c:pt idx="8">
                  <c:v>0.976</c:v>
                </c:pt>
                <c:pt idx="9">
                  <c:v>0.9764</c:v>
                </c:pt>
                <c:pt idx="10">
                  <c:v>0.9765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1" i="0" strike="noStrike" sz="900" u="none">
                  <a:solidFill>
                    <a:srgbClr val="1B243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baseline(11개 전체) 0.9768</c:v>
                </c:pt>
              </c:strCache>
            </c:strRef>
          </c:tx>
          <c:spPr>
            <a:solidFill>
              <a:srgbClr val="F4B860"/>
            </a:solidFill>
            <a:ln w="25400" cap="flat">
              <a:solidFill>
                <a:srgbClr val="F4B86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4B860"/>
              </a:solidFill>
              <a:ln w="9525" cap="flat">
                <a:solidFill>
                  <a:srgbClr val="F4B86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category</c:v>
                  </c:pt>
                  <c:pt idx="1">
                    <c:v>recent_24h
high_amt</c:v>
                  </c:pt>
                  <c:pt idx="2">
                    <c:v>trans_hour</c:v>
                  </c:pt>
                  <c:pt idx="3">
                    <c:v>age</c:v>
                  </c:pt>
                  <c:pt idx="4">
                    <c:v>amt</c:v>
                  </c:pt>
                  <c:pt idx="5">
                    <c:v>prior_normal
median_amt</c:v>
                  </c:pt>
                  <c:pt idx="6">
                    <c:v>amt_zscore
card</c:v>
                  </c:pt>
                  <c:pt idx="7">
                    <c:v>rolling_sum
amt_1h</c:v>
                  </c:pt>
                  <c:pt idx="8">
                    <c:v>high_speed</c:v>
                  </c:pt>
                  <c:pt idx="9">
                    <c:v>count_30min</c:v>
                  </c:pt>
                  <c:pt idx="10">
                    <c:v>amt_to_prior
median_ratio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0.976837</c:v>
                </c:pt>
                <c:pt idx="1">
                  <c:v>0.976837</c:v>
                </c:pt>
                <c:pt idx="2">
                  <c:v>0.976837</c:v>
                </c:pt>
                <c:pt idx="3">
                  <c:v>0.976837</c:v>
                </c:pt>
                <c:pt idx="4">
                  <c:v>0.976837</c:v>
                </c:pt>
                <c:pt idx="5">
                  <c:v>0.976837</c:v>
                </c:pt>
                <c:pt idx="6">
                  <c:v>0.976837</c:v>
                </c:pt>
                <c:pt idx="7">
                  <c:v>0.976837</c:v>
                </c:pt>
                <c:pt idx="8">
                  <c:v>0.976837</c:v>
                </c:pt>
                <c:pt idx="9">
                  <c:v>0.976837</c:v>
                </c:pt>
                <c:pt idx="10">
                  <c:v>0.976837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1B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85"/>
          <c:min val="0.9"/>
        </c:scaling>
        <c:delete val="0"/>
        <c:axPos val="l"/>
        <c:majorGridlines>
          <c:spPr>
            <a:ln w="12700" cap="flat">
              <a:solidFill>
                <a:srgbClr val="E5E9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77584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77584"/>
                    </a:solidFill>
                    <a:latin typeface="Arial"/>
                  </a:rPr>
                  <a:t>PR-AUC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775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677584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사기율(%)</c:v>
                </c:pt>
              </c:strCache>
            </c:strRef>
          </c:tx>
          <c:spPr>
            <a:solidFill>
              <a:srgbClr val="8A98A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98A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98A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B33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6455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6455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6455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8B339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8B339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8A98A8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4F9D69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0~600</c:v>
                  </c:pt>
                  <c:pt idx="1">
                    <c:v>600~700</c:v>
                  </c:pt>
                  <c:pt idx="2">
                    <c:v>700~800</c:v>
                  </c:pt>
                  <c:pt idx="3">
                    <c:v>800~900</c:v>
                  </c:pt>
                  <c:pt idx="4">
                    <c:v>900~1000</c:v>
                  </c:pt>
                  <c:pt idx="5">
                    <c:v>1000~1100</c:v>
                  </c:pt>
                  <c:pt idx="6">
                    <c:v>1100~1200</c:v>
                  </c:pt>
                  <c:pt idx="7">
                    <c:v>1200~1300</c:v>
                  </c:pt>
                  <c:pt idx="8">
                    <c:v>1300~1400</c:v>
                  </c:pt>
                  <c:pt idx="9">
                    <c:v>1400+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2.5</c:v>
                </c:pt>
                <c:pt idx="1">
                  <c:v>8.6</c:v>
                </c:pt>
                <c:pt idx="2">
                  <c:v>34.7</c:v>
                </c:pt>
                <c:pt idx="3">
                  <c:v>49.5</c:v>
                </c:pt>
                <c:pt idx="4">
                  <c:v>58.9</c:v>
                </c:pt>
                <c:pt idx="5">
                  <c:v>57</c:v>
                </c:pt>
                <c:pt idx="6">
                  <c:v>38.7</c:v>
                </c:pt>
                <c:pt idx="7">
                  <c:v>13.2</c:v>
                </c:pt>
                <c:pt idx="8">
                  <c:v>2.2</c:v>
                </c:pt>
                <c:pt idx="9">
                  <c:v>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0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1" i="0" u="none" strike="noStrike">
                <a:solidFill>
                  <a:srgbClr val="1B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9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77584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77584"/>
                    </a:solidFill>
                    <a:latin typeface="Arial"/>
                  </a:rPr>
                  <a:t>사기율(%)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775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사기율(%)</c:v>
                </c:pt>
              </c:strCache>
            </c:strRef>
          </c:tx>
          <c:spPr>
            <a:solidFill>
              <a:srgbClr val="D6455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6455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6455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6455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6455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F9D69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6455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D64550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0시</c:v>
                  </c:pt>
                  <c:pt idx="1">
                    <c:v>1시</c:v>
                  </c:pt>
                  <c:pt idx="2">
                    <c:v>2시</c:v>
                  </c:pt>
                  <c:pt idx="3">
                    <c:v>3시</c:v>
                  </c:pt>
                  <c:pt idx="4">
                    <c:v>4~21시
(주간평균)</c:v>
                  </c:pt>
                  <c:pt idx="5">
                    <c:v>22시</c:v>
                  </c:pt>
                  <c:pt idx="6">
                    <c:v>23시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1.494</c:v>
                </c:pt>
                <c:pt idx="1">
                  <c:v>1.535</c:v>
                </c:pt>
                <c:pt idx="2">
                  <c:v>1.465</c:v>
                </c:pt>
                <c:pt idx="3">
                  <c:v>1.424</c:v>
                </c:pt>
                <c:pt idx="4">
                  <c:v>0.114</c:v>
                </c:pt>
                <c:pt idx="5">
                  <c:v>2.883</c:v>
                </c:pt>
                <c:pt idx="6">
                  <c:v>2.837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1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1" i="0" u="none" strike="noStrike">
                <a:solidFill>
                  <a:srgbClr val="1B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9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77584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77584"/>
                    </a:solidFill>
                    <a:latin typeface="Arial"/>
                  </a:rPr>
                  <a:t>사기율(%)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775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114800" cy="4114800"/>
          </a:xfrm>
          <a:prstGeom prst="ellipse">
            <a:avLst/>
          </a:prstGeom>
          <a:solidFill>
            <a:srgbClr val="2B3444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754880"/>
            <a:ext cx="2743200" cy="2743200"/>
          </a:xfrm>
          <a:prstGeom prst="ellipse">
            <a:avLst/>
          </a:prstGeom>
          <a:solidFill>
            <a:srgbClr val="2B344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SIGNBRIDGE FDS  ·  최종 변수조합 결정 근거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PR-AUC 0.977인가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조합3(11개 변수)을 그대로 유지해도 되는가 — 6가지 각도로 검증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062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B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12개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47548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재학습 (baseline+LOO 11개)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474720" y="42062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B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6가지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74720" y="47548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각도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126480" y="42062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B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0건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126480" y="47548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발견된 리키지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778240" y="42062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B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11개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778240" y="47548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유지 변수 수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다영  ·  변수조합 검증 담당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문제제기 — 성능이 너무 높다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조합3(11개 변수) + LightGBM → OOF PR-AUC 0.9768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불균형이 극심한 사기탐지 문제에서 이 정도로 높은 성능이 나오면, "뭔가 잘못된 것 아닌가?"를 먼저 의심해야 함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팀에서 시도했던 접근과 남은 의문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11064240" cy="2011680"/>
        </p:xfrm>
        <a:graphic>
          <a:graphicData uri="http://schemas.openxmlformats.org/drawingml/2006/table">
            <a:tbl>
              <a:tblPr/>
              <a:tblGrid>
                <a:gridCol w="1554480"/>
                <a:gridCol w="4572000"/>
                <a:gridCol w="4937760"/>
              </a:tblGrid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1차 시도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4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$800 이상 거래를 Rule로 분리 + amt/age 제거 (Model 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카드결제 데이터에 "이체한도" 개념을 적용하는 게 논리적으로 안 맞음 → 기각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남은 질문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4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그럼 왜 0.977인가? amt가 진짜 원인 아니라면, 뭐가 원인인가?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이 발표에서 답함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5669280"/>
            <a:ext cx="5486400" cy="384048"/>
          </a:xfrm>
          <a:prstGeom prst="roundRect">
            <a:avLst>
              <a:gd name="adj" fmla="val 50000"/>
            </a:avLst>
          </a:prstGeom>
          <a:solidFill>
            <a:srgbClr val="F4B860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566928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결론: 조합3 그대로 유지 — 데이터로 검증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6가지 각도로 검증했습니다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2B344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91440" cy="2103120"/>
          </a:xfrm>
          <a:prstGeom prst="rect">
            <a:avLst/>
          </a:prstGeom>
          <a:solidFill>
            <a:srgbClr val="F4B86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459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B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Leave-One-Out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11개 변수 각각 빼보고 성능 변화 확인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2B3444"/>
          </a:solidFill>
          <a:ln/>
        </p:spPr>
      </p:sp>
      <p:sp>
        <p:nvSpPr>
          <p:cNvPr id="10" name="Shape 8"/>
          <p:cNvSpPr/>
          <p:nvPr/>
        </p:nvSpPr>
        <p:spPr>
          <a:xfrm>
            <a:off x="4297680" y="1463040"/>
            <a:ext cx="91440" cy="210312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6459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26280" y="22402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amt 세밀 구간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26280" y="26974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 단위로 사기율 재확인 — 진짜 비선형인가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4630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2B3444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0" y="1463040"/>
            <a:ext cx="91440" cy="2103120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16459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B3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275320" y="22402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시간대 효과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75320" y="26974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trans_hour가 왜 3위로 중요한가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2B3444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3794760"/>
            <a:ext cx="91440" cy="210312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9776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77240" y="45720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업종×금액 교차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7240" y="50292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사기가 실제로 어디에 뭉쳐있는가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97680" y="379476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2B3444"/>
          </a:solidFill>
          <a:ln/>
        </p:spPr>
      </p:sp>
      <p:sp>
        <p:nvSpPr>
          <p:cNvPr id="25" name="Shape 23"/>
          <p:cNvSpPr/>
          <p:nvPr/>
        </p:nvSpPr>
        <p:spPr>
          <a:xfrm>
            <a:off x="4297680" y="3794760"/>
            <a:ext cx="91440" cy="2103120"/>
          </a:xfrm>
          <a:prstGeom prst="rect">
            <a:avLst/>
          </a:prstGeom>
          <a:solidFill>
            <a:srgbClr val="4F9D69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39776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9D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⑤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4526280" y="45720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파생변수 분포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26280" y="50292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정상/사기 그룹이 얼마나 다르게 보이는가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46720" y="379476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2B3444"/>
          </a:solidFill>
          <a:ln/>
        </p:spPr>
      </p:sp>
      <p:sp>
        <p:nvSpPr>
          <p:cNvPr id="30" name="Shape 28"/>
          <p:cNvSpPr/>
          <p:nvPr/>
        </p:nvSpPr>
        <p:spPr>
          <a:xfrm>
            <a:off x="8046720" y="3794760"/>
            <a:ext cx="91440" cy="2103120"/>
          </a:xfrm>
          <a:prstGeom prst="rect">
            <a:avLst/>
          </a:prstGeom>
          <a:solidFill>
            <a:srgbClr val="8A98A8"/>
          </a:solidFill>
          <a:ln/>
        </p:spPr>
      </p:sp>
      <p:sp>
        <p:nvSpPr>
          <p:cNvPr id="31" name="Text 29"/>
          <p:cNvSpPr/>
          <p:nvPr/>
        </p:nvSpPr>
        <p:spPr>
          <a:xfrm>
            <a:off x="8275320" y="39776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A9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⑥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8275320" y="45720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리키지 검증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275320" y="50292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혹시 미래정보가 새고 있는 건 아닌가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LEAVE-ONE-OUT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11개 변수, 하나씩 빼고 다시 학습해봤습니다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baseline(11개 전체) PR-AUC = 0.976837 — 아래 막대는 그 변수를 뺐을 때의 PR-AUC (낮을수록 원래 중요했다는 뜻)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63040"/>
          <a:ext cx="112471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7150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빨강(2개)=성능에 결정적  주황(1개)=꽤 중요  회색(8개)=거의 영향 없음(amt 포함)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LEAVE-ONE-OUT · 해설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amt는 5위 — "amt 때문에 뻥튀기" 근거 없음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2743200"/>
        </p:xfrm>
        <a:graphic>
          <a:graphicData uri="http://schemas.openxmlformats.org/drawingml/2006/table">
            <a:tbl>
              <a:tblPr/>
              <a:tblGrid>
                <a:gridCol w="1828800"/>
                <a:gridCol w="4206240"/>
                <a:gridCol w="2651760"/>
                <a:gridCol w="2377440"/>
              </a:tblGrid>
              <a:tr h="3918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순위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변수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제거 시 PR-AUC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하락폭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-0.0664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recent_24h_high_amt_count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-0.0371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trans_hour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-0.0360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-0.0134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5위 ← amt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0.9734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6~11위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prior_normal_median_amt 등 6개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0.9747~0.9765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-0.0002~-0.0022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9768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1B2430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4480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B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amt 하나를 빼도 성능은 겨우 0.35%p 하락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48920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진짜 일등공신은 category(업종)와 recent_24h_high_amt_count(최근 고액 반복결제) — amt가 아님. amt의 정보는 amt_zscore_card·prior_normal_median_amt 등 5개 파생변수에 이미 중복 인코딩돼 있어서, amt 하나를 빼도 모델이 다른 경로로 같은 정보를 볼 수 있음.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AMT 세밀 구간별 사기율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"고액=위험"이 아니라 종모양 봉우리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34440"/>
          <a:ext cx="112471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492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550468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$700~1300에서만 봉우리(최고 $900~1000, 58.9%) → $1400 넘으면 최고금액($28,949)까지 사기 0건(0.000%). "$800 이상 = 사기" 같은 단순 규칙은 실제 패턴과 안 맞음.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시간대별 사기율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밤 22시~03시, 낮보다 17배 위험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34440"/>
          <a:ext cx="66751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234440"/>
            <a:ext cx="4206240" cy="4114800"/>
          </a:xfrm>
          <a:prstGeom prst="roundRect">
            <a:avLst>
              <a:gd name="adj" fmla="val 1778"/>
            </a:avLst>
          </a:prstGeom>
          <a:solidFill>
            <a:srgbClr val="1B2430"/>
          </a:solidFill>
          <a:ln/>
        </p:spPr>
      </p:sp>
      <p:sp>
        <p:nvSpPr>
          <p:cNvPr id="6" name="Text 3"/>
          <p:cNvSpPr/>
          <p:nvPr/>
        </p:nvSpPr>
        <p:spPr>
          <a:xfrm>
            <a:off x="7680960" y="15544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4B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17배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7680960" y="25146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밤(22시~03시) 평균 사기율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 낮(04~21시) 평균 사기율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680960" y="32918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8A9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밤: 약 1.94%</a:t>
            </a:r>
            <a:endParaRPr lang="en-US" sz="15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8A9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낮: 약 0.114%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680960" y="41148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하루 24시간 중 딱 6시간에 사기가 몰려있어서, trans_hour 하나만으로도 모델이 큰 힌트를 얻음 (LOO 3위, -3.6%p)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업종 × 금액대 교차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사기는 뭉쳐있다 — 제일 결정적인 증거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금액봉우리($700~1300) 안에서, 업종별로 또 나눠봤더니: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675120" cy="2194560"/>
        </p:xfrm>
        <a:graphic>
          <a:graphicData uri="http://schemas.openxmlformats.org/drawingml/2006/table">
            <a:tbl>
              <a:tblPr/>
              <a:tblGrid>
                <a:gridCol w="2468880"/>
                <a:gridCol w="1463040"/>
                <a:gridCol w="1463040"/>
                <a:gridCol w="12801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업종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4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건수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4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사기건수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4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사기율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44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shopping_net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misc_net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4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4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4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44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shopping_pos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4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4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4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44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misc_pos / travel / 기타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4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4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4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444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498080" y="1554480"/>
            <a:ext cx="4114800" cy="4206240"/>
          </a:xfrm>
          <a:prstGeom prst="roundRect">
            <a:avLst>
              <a:gd name="adj" fmla="val 1778"/>
            </a:avLst>
          </a:prstGeom>
          <a:solidFill>
            <a:srgbClr val="D64550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0" y="18288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22.8%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7772400" y="28346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shopping_net + $700~1300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조합 하나가 차지하는 비중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0" y="3611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사기 7,506건 중 1,712건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0" y="416052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딱 2번의 분기(category==shopping_net AND 700≤amt&lt;1300)만으로 전체 사기의 5분의 1 이상을 60% 정밀도로 걸러낼 수 있음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3931920"/>
            <a:ext cx="6675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i="1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사기가 feature 공간에 넓게 흩어진 게 아니라, "업종×금액"이라는 좁고 각진 영역에 뭉쳐있음. LightGBM 같은 트리 모델은 이런 구조를 정확히 오려내는 데 최적화돼 있음 — 그래서 성능이 높게 나옴.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파생변수 분포 비교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정상은 조용하고, 사기는 시끄럽다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recent_24h_high_amt_count — 최근 24시간 안에 $500 넘는 결제를 몇 번 했는지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1463040"/>
        </p:xfrm>
        <a:graphic>
          <a:graphicData uri="http://schemas.openxmlformats.org/drawingml/2006/table">
            <a:tbl>
              <a:tblPr/>
              <a:tblGrid>
                <a:gridCol w="3291840"/>
                <a:gridCol w="1943100"/>
                <a:gridCol w="1943100"/>
                <a:gridCol w="1943100"/>
                <a:gridCol w="1943100"/>
              </a:tblGrid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평균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중앙값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상위 25%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최댓값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정상거래 (1,289,169건)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사기거래 (7,506건)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1.693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291840"/>
            <a:ext cx="11064240" cy="2468880"/>
          </a:xfrm>
          <a:prstGeom prst="roundRect">
            <a:avLst>
              <a:gd name="adj" fmla="val 2963"/>
            </a:avLst>
          </a:prstGeom>
          <a:solidFill>
            <a:srgbClr val="F4F6F8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3474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정상거래는 75%가 이 값이 0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39319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 24시간 안에 고액결제 이력이 아예 없다는 뜻. 반면 사기거래는 중앙값부터 1건, 상위 25%는 3건 이상 — "카드 도용 후 짧은 시간에 몰아서 여러 번 긁는다(burst spending)"는 실제 사기 패턴을 이 변수가 정확히 잡아냄.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LOO 2위(-3.7%p)로 중요했던 이유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리키지(미래정보 유출) 검증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혹시 컨닝 아닌지, 코드로 직접 확인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"리키지"란 학습 변수 안에 미래정보·정답이 몰래 섞여 들어가 성능이 비정상적으로 높게 나오는 현상. 11개 변수의 실제 계산 코드를 전부 열어봄.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F4F6F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8800"/>
            <a:ext cx="3566160" cy="91440"/>
          </a:xfrm>
          <a:prstGeom prst="rect">
            <a:avLst/>
          </a:prstGeom>
          <a:solidFill>
            <a:srgbClr val="4F9D69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0312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recent_24h_high_amt_count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"현재시각은 제외(closed='left')" — 지금 이 순간은 안 세고 그 이전 24시간만 집계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82880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F4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4297680" y="1828800"/>
            <a:ext cx="3566160" cy="91440"/>
          </a:xfrm>
          <a:prstGeom prst="rect">
            <a:avLst/>
          </a:prstGeom>
          <a:solidFill>
            <a:srgbClr val="4F9D69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210312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amt_zscore_card 등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26280" y="278892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"현재 거래를 추가하기 전 값" — 이번 거래 넣기 직전까지의 카드별 통계로만 계산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182880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F4F6F8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0" y="1828800"/>
            <a:ext cx="3566160" cy="91440"/>
          </a:xfrm>
          <a:prstGeom prst="rect">
            <a:avLst/>
          </a:prstGeom>
          <a:solidFill>
            <a:srgbClr val="4F9D69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210312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prior_normal_median_amt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275320" y="278892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기간 종료 시점까지 확정된 이력만 사용. 코드가 스스로 test_is_fraud_used=False 로그를 찍어 검증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84632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1B2430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01091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B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결론: "은행이 실시간으로 이 거래를 볼 때 이미 알고 있었을 정보"만 사용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22960" y="541324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카드(이력 없음)는 값을 억지로 채우지 않고 NaN 그대로 둠 → LightGBM이 알아서 결측 처리. 0.977은 컨닝이 아니라 데이터 구조 자체가 이렇게 뭉쳐있기 때문.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결론 — 조합3(11개) 그대로 유지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2B344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373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4B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원인은 amt가 아니다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 검증 결과 amt는 11개 중 5위(-0.35%p)에 불과. 진짜 원인은 category(1위)·recent_24h_high_amt_count(2위)·trans_hour(3위).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2B3444"/>
          </a:solidFill>
          <a:ln/>
        </p:spPr>
      </p:sp>
      <p:sp>
        <p:nvSpPr>
          <p:cNvPr id="8" name="Text 6"/>
          <p:cNvSpPr/>
          <p:nvPr/>
        </p:nvSpPr>
        <p:spPr>
          <a:xfrm>
            <a:off x="4526280" y="17373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4B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"고액=위험"은 틀렸다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26280" y="269748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$700~1300 좁은 구간에서만 봉우리(최고 58.9%), $1400 이상은 사기 0%. $800 Rule분리·이체한도 대응은 이 비선형 패턴과 안 맞음.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146304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2B3444"/>
          </a:solidFill>
          <a:ln/>
        </p:spPr>
      </p:sp>
      <p:sp>
        <p:nvSpPr>
          <p:cNvPr id="11" name="Text 9"/>
          <p:cNvSpPr/>
          <p:nvPr/>
        </p:nvSpPr>
        <p:spPr>
          <a:xfrm>
            <a:off x="8275320" y="17373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4B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 리키지 없음, 정직한 결과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75320" y="269748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11개 변수 전부 "현재 시점까지 알 수 있는 정보"로만 계산됨을 코드로 확인. 0.977은 데이터가 원래 이렇게 뭉쳐있는 구조이기 때문.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다음 액션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1B243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B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25603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변수조합 확정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24612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조합3(11개) 그대로 유지 — 오늘 회의에서 팀 합의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55448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F4F6F8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26280" y="25603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FN/FP 원자료 분석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26280" y="324612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확정 모델의 confusion matrix를 raw데이터와 대조해 놓친/오탐 유형 정리 (트랙B 대체)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55448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F4F6F8"/>
          </a:solidFill>
          <a:ln/>
        </p:spPr>
      </p:sp>
      <p:sp>
        <p:nvSpPr>
          <p:cNvPr id="13" name="Text 11"/>
          <p:cNvSpPr/>
          <p:nvPr/>
        </p:nvSpPr>
        <p:spPr>
          <a:xfrm>
            <a:off x="827532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75320" y="25603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위험등급 재설계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75320" y="324612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Low(0~0.01) 제외, 0.01~1.0 구간만 새로 등급화 + 군집분석으로 거래유형 파악 (다영 담당)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 코드: 스크래치패드 ablation_0977_evidence.py — 11개 모델 3-Fold CV, amt 세밀구간, category×amt 교차, 리키지 코드검증 전체 포함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7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2026-08-20T14:52:08Z</dcterms:created>
  <dcterms:modified xsi:type="dcterms:W3CDTF">2026-08-20T14:52:08Z</dcterms:modified>
</cp:coreProperties>
</file>