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22222"/>
                </a:solidFill>
              </a:defRPr>
            </a:pPr>
            <a:r>
              <a:t>랜덤포레스트(Random Forest) 완전정복</a:t>
            </a:r>
          </a:p>
          <a:p>
            <a:pPr>
              <a:spcBef>
                <a:spcPts val="1400"/>
              </a:spcBef>
              <a:defRPr sz="1900">
                <a:solidFill>
                  <a:srgbClr val="2E5BB8"/>
                </a:solidFill>
              </a:defRPr>
            </a:pPr>
            <a:r>
              <a:t>FDS 이상거래 탐지 모델링 — 개념 · 파이프라인 · 장단점 · 보완방향</a:t>
            </a:r>
          </a:p>
          <a:p>
            <a:pPr>
              <a:spcBef>
                <a:spcPts val="1000"/>
              </a:spcBef>
              <a:defRPr sz="1400">
                <a:solidFill>
                  <a:srgbClr val="555555"/>
                </a:solidFill>
              </a:defRPr>
            </a:pPr>
            <a:r>
              <a:t>담당: 다영 (랜덤포레스트)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965960"/>
            <a:ext cx="2743200" cy="3810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1. 왜 이 모델인가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2. 결정트리부터 시작 — 기본 원리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3. 결정트리의 한계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4. 랜덤포레스트 = 트리들의 위원회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5. 학습(fit) 흐름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6. 예측(predict) 흐름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7. 우리 데이터 파이프라인 전체 흐름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8. 전처리 — 로지스틱회귀와 다른 점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9. 하이퍼파라미터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10. 평가 방법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11. 장점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12. 단점과 보완 방향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13. 주의할 점 체크리스트 (진행 과정)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14. 변수조합 설계 시 주의사항 (1) — 구조적 문제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15. 변수조합 설계 시 주의사항 (2) — 성능 착시</a:t>
            </a:r>
          </a:p>
          <a:p>
            <a:pPr>
              <a:spcAft>
                <a:spcPts val="900"/>
              </a:spcAft>
              <a:defRPr sz="1800" b="0">
                <a:solidFill>
                  <a:srgbClr val="222222"/>
                </a:solidFill>
              </a:defRPr>
            </a:pPr>
            <a:r>
              <a:t>16. 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1. 왜 이 모델인가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222222"/>
                </a:solidFill>
              </a:defRPr>
            </a:pPr>
            <a:r>
              <a:t>팀 담당 배정</a:t>
            </a:r>
          </a:p>
          <a:p>
            <a:pPr lvl="1">
              <a:spcAft>
                <a:spcPts val="1300"/>
              </a:spcAft>
              <a:defRPr sz="1700" b="0">
                <a:solidFill>
                  <a:srgbClr val="555555"/>
                </a:solidFill>
              </a:defRPr>
            </a:pPr>
            <a:r>
              <a:t>나겸=XGBoost · 다영=랜덤포레스트 · 세진=로지스틱회귀 · 민정=LightGBM</a:t>
            </a:r>
          </a:p>
          <a:p>
            <a:pPr>
              <a:spcAft>
                <a:spcPts val="1300"/>
              </a:spcAft>
              <a:defRPr sz="1900" b="1">
                <a:solidFill>
                  <a:srgbClr val="222222"/>
                </a:solidFill>
              </a:defRPr>
            </a:pPr>
            <a:r>
              <a:t>우리 문제의 성격</a:t>
            </a:r>
          </a:p>
          <a:p>
            <a:pPr lvl="1">
              <a:spcAft>
                <a:spcPts val="1300"/>
              </a:spcAft>
              <a:defRPr sz="1700" b="0">
                <a:solidFill>
                  <a:srgbClr val="555555"/>
                </a:solidFill>
              </a:defRPr>
            </a:pPr>
            <a:r>
              <a:t>지도학습(정답 is_fraud 있음) &gt; 분류(Classification) &gt; 그 중 랜덤포레스트 선택</a:t>
            </a:r>
          </a:p>
          <a:p>
            <a:pPr>
              <a:spcAft>
                <a:spcPts val="1300"/>
              </a:spcAft>
              <a:defRPr sz="1900" b="1">
                <a:solidFill>
                  <a:srgbClr val="222222"/>
                </a:solidFill>
              </a:defRPr>
            </a:pPr>
            <a:r>
              <a:t>랜덤포레스트를 배우는 의미</a:t>
            </a:r>
          </a:p>
          <a:p>
            <a:pPr lvl="1">
              <a:spcAft>
                <a:spcPts val="1300"/>
              </a:spcAft>
              <a:defRPr sz="1700" b="0">
                <a:solidFill>
                  <a:srgbClr val="555555"/>
                </a:solidFill>
              </a:defRPr>
            </a:pPr>
            <a:r>
              <a:t>실무 FDS·Kaggle 사기탐지 대회에서 표준으로 쓰이는 XGBoost·LightGBM은</a:t>
            </a:r>
          </a:p>
          <a:p>
            <a:pPr lvl="1">
              <a:spcAft>
                <a:spcPts val="1300"/>
              </a:spcAft>
              <a:defRPr sz="1700" b="0">
                <a:solidFill>
                  <a:srgbClr val="555555"/>
                </a:solidFill>
              </a:defRPr>
            </a:pPr>
            <a:r>
              <a:t>랜덤포레스트의 발전형(트리+부스팅) — 랜덤포레스트 원리를 이해하면 그 다음 단계로 가는 다리가 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2. 결정트리부터 시작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랜덤포레스트의 재료 — 트리 하나의 원리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2E5BB8"/>
                </a:solidFill>
              </a:defRPr>
            </a:pPr>
            <a:r>
              <a:t>결정트리 = 스무고개 게임</a:t>
            </a:r>
          </a:p>
          <a:p>
            <a:pPr lvl="1">
              <a:spcAft>
                <a:spcPts val="1300"/>
              </a:spcAft>
              <a:defRPr sz="1700" b="0">
                <a:solidFill>
                  <a:srgbClr val="555555"/>
                </a:solidFill>
              </a:defRPr>
            </a:pPr>
            <a:r>
              <a:t>amt(금액) &gt; 200 인가? → 예 → recent_24h_high_amt_count &gt; 2 인가? → 예 → “사기”</a:t>
            </a:r>
          </a:p>
          <a:p>
            <a:pPr lvl="1">
              <a:spcAft>
                <a:spcPts val="1300"/>
              </a:spcAft>
              <a:defRPr sz="1700" b="0">
                <a:solidFill>
                  <a:srgbClr val="555555"/>
                </a:solidFill>
              </a:defRPr>
            </a:pPr>
            <a:r>
              <a:t>이런 식으로 조건을 반복해서 데이터를 계속 나눠가는 나무 구조</a:t>
            </a:r>
          </a:p>
          <a:p>
            <a:pPr>
              <a:spcAft>
                <a:spcPts val="1300"/>
              </a:spcAft>
              <a:defRPr sz="1900" b="1">
                <a:solidFill>
                  <a:srgbClr val="2E5BB8"/>
                </a:solidFill>
              </a:defRPr>
            </a:pPr>
            <a:r>
              <a:t>질문과 순서는 누가 정하나?</a:t>
            </a:r>
          </a:p>
          <a:p>
            <a:pPr lvl="1">
              <a:spcAft>
                <a:spcPts val="1300"/>
              </a:spcAft>
              <a:defRPr sz="1700" b="0">
                <a:solidFill>
                  <a:srgbClr val="555555"/>
                </a:solidFill>
              </a:defRPr>
            </a:pPr>
            <a:r>
              <a:t>사람이 정하는 게 아니라, 알고리즘이 데이터를 보고 “어떤 기준으로 나눠야</a:t>
            </a:r>
          </a:p>
          <a:p>
            <a:pPr lvl="1">
              <a:spcAft>
                <a:spcPts val="1300"/>
              </a:spcAft>
              <a:defRPr sz="1700" b="0">
                <a:solidFill>
                  <a:srgbClr val="555555"/>
                </a:solidFill>
              </a:defRPr>
            </a:pPr>
            <a:r>
              <a:t>정상/사기가 제일 잘 갈라지는지(불순도 최소화)”를 자동으로 찾아냄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3. 결정트리의 한계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트리 하나만 쓰면 생기는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1">
                <a:solidFill>
                  <a:srgbClr val="B83A2E"/>
                </a:solidFill>
              </a:defRPr>
            </a:pPr>
            <a:r>
              <a:t>과적합(Overfitting)</a:t>
            </a:r>
          </a:p>
          <a:p>
            <a:pPr lvl="1">
              <a:spcAft>
                <a:spcPts val="1300"/>
              </a:spcAft>
              <a:defRPr sz="1700" b="0">
                <a:solidFill>
                  <a:srgbClr val="555555"/>
                </a:solidFill>
              </a:defRPr>
            </a:pPr>
            <a:r>
              <a:t>트리 하나는 학습 데이터를 “외워버리는” 경향이 있음</a:t>
            </a:r>
          </a:p>
          <a:p>
            <a:pPr lvl="1">
              <a:spcAft>
                <a:spcPts val="1300"/>
              </a:spcAft>
              <a:defRPr sz="1700" b="0">
                <a:solidFill>
                  <a:srgbClr val="555555"/>
                </a:solidFill>
              </a:defRPr>
            </a:pPr>
            <a:r>
              <a:t>학습 데이터에서는 100점인데, 처음 보는 새 거래에서는 오히려 성능이 떨어짐</a:t>
            </a:r>
          </a:p>
          <a:p>
            <a:pPr>
              <a:spcAft>
                <a:spcPts val="1300"/>
              </a:spcAft>
              <a:defRPr sz="1900" b="1">
                <a:solidFill>
                  <a:srgbClr val="B83A2E"/>
                </a:solidFill>
              </a:defRPr>
            </a:pPr>
            <a:r>
              <a:t>불안정성</a:t>
            </a:r>
          </a:p>
          <a:p>
            <a:pPr lvl="1">
              <a:spcAft>
                <a:spcPts val="1300"/>
              </a:spcAft>
              <a:defRPr sz="1700" b="0">
                <a:solidFill>
                  <a:srgbClr val="555555"/>
                </a:solidFill>
              </a:defRPr>
            </a:pPr>
            <a:r>
              <a:t>데이터가 조금만 바뀌어도(이상치 하나만 섞여도) 트리 구조 전체가 크게 달라질 수 있음</a:t>
            </a:r>
          </a:p>
          <a:p>
            <a:pPr>
              <a:spcAft>
                <a:spcPts val="1300"/>
              </a:spcAft>
              <a:defRPr sz="1900" b="1">
                <a:solidFill>
                  <a:srgbClr val="2E5BB8"/>
                </a:solidFill>
              </a:defRPr>
            </a:pPr>
            <a:r>
              <a:t>→ 그래서 트리 하나가 아니라 여러 개를 만들어 평균 내는 방법이 필요함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4. 랜덤포레스트 = 트리들의 위원회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트리 수백 그루 + 무작위성 두 가지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 b="1">
                <a:solidFill>
                  <a:srgbClr val="2E5BB8"/>
                </a:solidFill>
              </a:defRPr>
            </a:pPr>
            <a:r>
              <a:t>① 부트스트랩 샘플링 (Bagging)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555555"/>
                </a:solidFill>
              </a:defRPr>
            </a:pPr>
            <a:r>
              <a:t>트리마다 원본 데이터에서 중복을 허용해 무작위로 추출한 부분집합만 보여줌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555555"/>
                </a:solidFill>
              </a:defRPr>
            </a:pPr>
            <a:r>
              <a:t>→ 트리마다 “보는 데이터”가 조금씩 다름</a:t>
            </a:r>
          </a:p>
          <a:p>
            <a:pPr>
              <a:spcAft>
                <a:spcPts val="1100"/>
              </a:spcAft>
              <a:defRPr sz="1800" b="1">
                <a:solidFill>
                  <a:srgbClr val="2E5BB8"/>
                </a:solidFill>
              </a:defRPr>
            </a:pPr>
            <a:r>
              <a:t>② 랜덤 피처(변수) 서브셋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555555"/>
                </a:solidFill>
              </a:defRPr>
            </a:pPr>
            <a:r>
              <a:t>각 분기(질문)를 정할 때, 전체 변수가 아니라 무작위로 뽑은 일부 변수만 후보로 검토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555555"/>
                </a:solidFill>
              </a:defRPr>
            </a:pPr>
            <a:r>
              <a:t>→ 트리마다 “어떤 질문을 고려하는지”도 다름</a:t>
            </a:r>
          </a:p>
          <a:p>
            <a:pPr>
              <a:spcAft>
                <a:spcPts val="1100"/>
              </a:spcAft>
              <a:defRPr sz="1800" b="1">
                <a:solidFill>
                  <a:srgbClr val="2E5BB8"/>
                </a:solidFill>
              </a:defRPr>
            </a:pPr>
            <a:r>
              <a:t>최종 판단 = 다수결(분류) / 확률 평균</a:t>
            </a:r>
          </a:p>
          <a:p>
            <a:pPr lvl="1">
              <a:spcAft>
                <a:spcPts val="1100"/>
              </a:spcAft>
              <a:defRPr sz="1600" b="0">
                <a:solidFill>
                  <a:srgbClr val="555555"/>
                </a:solidFill>
              </a:defRPr>
            </a:pPr>
            <a:r>
              <a:t>수백 그루가 서로 다른 시각으로 판단 → 투표로 최종 결정 → 한 그루의 실수가 상쇄됨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5. 학습(fit)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① n_estimators(예: 300)개만큼 트리 생성을 준비</a:t>
            </a:r>
          </a:p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② 트리 1그루당: 부트스트랩 샘플 추출 → 각 분기마다 무작위 변수 후보 중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불순도(지니계수)를 가장 많이 낮추는 분기를 찾음 → 트리가 끝까지 완성될 때까지 반복</a:t>
            </a:r>
          </a:p>
          <a:p>
            <a:pPr>
              <a:spcAft>
                <a:spcPts val="1200"/>
              </a:spcAft>
              <a:defRPr sz="1800" b="1">
                <a:solidFill>
                  <a:srgbClr val="222222"/>
                </a:solidFill>
              </a:defRPr>
            </a:pPr>
            <a:r>
              <a:t>③ 300그루 전부 이 과정을 독립적으로 반복 (트리끼리 서로 영향 안 줌 → 병렬 처리 가능)</a:t>
            </a:r>
          </a:p>
          <a:p>
            <a:pPr>
              <a:spcAft>
                <a:spcPts val="1200"/>
              </a:spcAft>
              <a:defRPr sz="1800" b="1">
                <a:solidFill>
                  <a:srgbClr val="2E5BB8"/>
                </a:solidFill>
              </a:defRPr>
            </a:pPr>
            <a:r>
              <a:t>코드로는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model = RandomForestClassifier(...)  →  model.fit(X_train, y_train)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6. 예측(predict)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 b="1">
                <a:solidFill>
                  <a:srgbClr val="222222"/>
                </a:solidFill>
              </a:defRPr>
            </a:pPr>
            <a:r>
              <a:t>① 새로운 거래 데이터를 학습된 300그루 나무 전부에 넣음</a:t>
            </a:r>
          </a:p>
          <a:p>
            <a:pPr>
              <a:spcAft>
                <a:spcPts val="1000"/>
              </a:spcAft>
              <a:defRPr sz="1750" b="1">
                <a:solidFill>
                  <a:srgbClr val="222222"/>
                </a:solidFill>
              </a:defRPr>
            </a:pPr>
            <a:r>
              <a:t>② 나무 한 그루마다 “정상” 또는 “사기” 중 하나로 투표</a:t>
            </a:r>
          </a:p>
          <a:p>
            <a:pPr lvl="1">
              <a:spcAft>
                <a:spcPts val="1000"/>
              </a:spcAft>
              <a:defRPr sz="1550" b="0">
                <a:solidFill>
                  <a:srgbClr val="555555"/>
                </a:solidFill>
              </a:defRPr>
            </a:pPr>
            <a:r>
              <a:t>(정확히는, 그 나무의 리프노드에 도달한 학습샘플들의 클래스 비율을 확률로 사용)</a:t>
            </a:r>
          </a:p>
          <a:p>
            <a:pPr>
              <a:spcAft>
                <a:spcPts val="1000"/>
              </a:spcAft>
              <a:defRPr sz="1750" b="1">
                <a:solidFill>
                  <a:srgbClr val="222222"/>
                </a:solidFill>
              </a:defRPr>
            </a:pPr>
            <a:r>
              <a:t>③ 300그루의 투표 비율 = 최종 “사기일 확률”</a:t>
            </a:r>
          </a:p>
          <a:p>
            <a:pPr lvl="1">
              <a:spcAft>
                <a:spcPts val="1000"/>
              </a:spcAft>
              <a:defRPr sz="1550" b="0">
                <a:solidFill>
                  <a:srgbClr val="555555"/>
                </a:solidFill>
              </a:defRPr>
            </a:pPr>
            <a:r>
              <a:t>예: 300그루 중 258그루가 “사기”라고 하면 → 사기 확률 86%</a:t>
            </a:r>
          </a:p>
          <a:p>
            <a:pPr>
              <a:spcAft>
                <a:spcPts val="1000"/>
              </a:spcAft>
              <a:defRPr sz="1750" b="1">
                <a:solidFill>
                  <a:srgbClr val="222222"/>
                </a:solidFill>
              </a:defRPr>
            </a:pPr>
            <a:r>
              <a:t>④ 기준선(threshold, 보통 0.5)을 넘으면 최종 “사기”로 판정</a:t>
            </a:r>
          </a:p>
          <a:p>
            <a:pPr>
              <a:spcAft>
                <a:spcPts val="1000"/>
              </a:spcAft>
              <a:defRPr sz="1750" b="1">
                <a:solidFill>
                  <a:srgbClr val="2E5BB8"/>
                </a:solidFill>
              </a:defRPr>
            </a:pPr>
            <a:r>
              <a:t>코드로는</a:t>
            </a:r>
          </a:p>
          <a:p>
            <a:pPr lvl="1">
              <a:spcAft>
                <a:spcPts val="1000"/>
              </a:spcAft>
              <a:defRPr sz="1550" b="0">
                <a:solidFill>
                  <a:srgbClr val="555555"/>
                </a:solidFill>
              </a:defRPr>
            </a:pPr>
            <a:r>
              <a:t>model.predict_proba(X_val)  →  확률   /   model.predict(X_val)  →  0 또는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7. 우리 데이터 파이프라인 전체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50" b="1">
                <a:solidFill>
                  <a:srgbClr val="2E5BB8"/>
                </a:solidFill>
              </a:defRPr>
            </a:pPr>
            <a:r>
              <a:t>① 데이터 로드</a:t>
            </a:r>
          </a:p>
          <a:p>
            <a:pPr lvl="1">
              <a:spcAft>
                <a:spcPts val="1000"/>
              </a:spcAft>
              <a:defRPr sz="1450" b="0">
                <a:solidFill>
                  <a:srgbClr val="555555"/>
                </a:solidFill>
              </a:defRPr>
            </a:pPr>
            <a:r>
              <a:t>fraudTrain_train_80.csv / fraudTrain_test_20.csv (70:30 버전도 동일)</a:t>
            </a:r>
          </a:p>
          <a:p>
            <a:pPr>
              <a:spcAft>
                <a:spcPts val="1000"/>
              </a:spcAft>
              <a:defRPr sz="1650" b="1">
                <a:solidFill>
                  <a:srgbClr val="2E5BB8"/>
                </a:solidFill>
              </a:defRPr>
            </a:pPr>
            <a:r>
              <a:t>② 준비한 변수조합 중 하나를 골라 X(설명변수) 구성, y = is_fraud</a:t>
            </a:r>
          </a:p>
          <a:p>
            <a:pPr>
              <a:spcAft>
                <a:spcPts val="1000"/>
              </a:spcAft>
              <a:defRPr sz="1650" b="1">
                <a:solidFill>
                  <a:srgbClr val="2E5BB8"/>
                </a:solidFill>
              </a:defRPr>
            </a:pPr>
            <a:r>
              <a:t>③ 전처리 — 변수 dtype 확인 후 필요시 인코딩 (8번에서 상세)</a:t>
            </a:r>
          </a:p>
          <a:p>
            <a:pPr>
              <a:spcAft>
                <a:spcPts val="1000"/>
              </a:spcAft>
              <a:defRPr sz="1650" b="1">
                <a:solidFill>
                  <a:srgbClr val="2E5BB8"/>
                </a:solidFill>
              </a:defRPr>
            </a:pPr>
            <a:r>
              <a:t>④ RandomForestClassifier(class_weight='balanced', ...) 생성 → .fit(X_train, y_train)</a:t>
            </a:r>
          </a:p>
          <a:p>
            <a:pPr>
              <a:spcAft>
                <a:spcPts val="1000"/>
              </a:spcAft>
              <a:defRPr sz="1650" b="1">
                <a:solidFill>
                  <a:srgbClr val="2E5BB8"/>
                </a:solidFill>
              </a:defRPr>
            </a:pPr>
            <a:r>
              <a:t>⑤ .predict_proba(X_val) → 확률 → threshold 적용 → 최종 판정</a:t>
            </a:r>
          </a:p>
          <a:p>
            <a:pPr>
              <a:spcAft>
                <a:spcPts val="1000"/>
              </a:spcAft>
              <a:defRPr sz="1650" b="1">
                <a:solidFill>
                  <a:srgbClr val="2E5BB8"/>
                </a:solidFill>
              </a:defRPr>
            </a:pPr>
            <a:r>
              <a:t>⑥ confusion matrix / 재현율 / 오탐률 / ROC-AUC / PR-AUC 계산</a:t>
            </a:r>
          </a:p>
          <a:p>
            <a:pPr>
              <a:spcAft>
                <a:spcPts val="1000"/>
              </a:spcAft>
              <a:defRPr sz="1650" b="1">
                <a:solidFill>
                  <a:srgbClr val="2E5BB8"/>
                </a:solidFill>
              </a:defRPr>
            </a:pPr>
            <a:r>
              <a:t>⑦ feature_importances_ 확인</a:t>
            </a:r>
          </a:p>
          <a:p>
            <a:pPr>
              <a:spcAft>
                <a:spcPts val="1000"/>
              </a:spcAft>
              <a:defRPr sz="1650" b="1">
                <a:solidFill>
                  <a:srgbClr val="2E5BB8"/>
                </a:solidFill>
              </a:defRPr>
            </a:pPr>
            <a:r>
              <a:t>⑧ 준비한 변수조합 전부 반복 → 표로 비교 (80:20, 70:30 두 분할비율도 각각)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8. 전처리 — 로지스틱회귀와 다른 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9488"/>
                <a:gridCol w="4248912"/>
                <a:gridCol w="4998720"/>
              </a:tblGrid>
              <a:tr h="1051560"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</a:defRPr>
                      </a:pPr>
                      <a:r>
                        <a:t>로지스틱회귀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50">
                          <a:solidFill>
                            <a:srgbClr val="FFFFFF"/>
                          </a:solidFill>
                        </a:defRPr>
                      </a:pPr>
                      <a:r>
                        <a:t>랜덤포레스트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범주형 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원-핫 인코딩 필수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(숫자로 바꾸면 순서가 있다고 오해)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이론상 라벨인코딩도 가능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(단, 원본 범주형(category, age_group 등)을 그대로 쓸 거면 인코딩 필요 —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이미 수치·이진형으로 파생된 변수 위주면 불필요)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스케일링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필요(StandardScaler)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계수 크기를 비교하려면 단위를 맞춰야 함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불필요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트리는 “기준값보다 큰가”만 보지 크기 자체를 비교 안 함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결측치(NaN)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처리 불가 → 반드시 채워야 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사이킷런 기본 구현은 NaN 처리 불가</a:t>
                      </a:r>
                    </a:p>
                    <a:p>
                      <a:pPr>
                        <a:defRPr sz="1350">
                          <a:solidFill>
                            <a:srgbClr val="222222"/>
                          </a:solidFill>
                        </a:defRPr>
                      </a:pPr>
                      <a:r>
                        <a:t>(단, 우리 데이터는 final_train_code에서 이미 0+플래그로 처리돼 있어 해당 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0644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5BB8"/>
                </a:solidFill>
              </a:defRPr>
            </a:pPr>
            <a:r>
              <a:t>→ 결론: 수치·이진형 변수 위주 조합이면 전처리 부담이 거의 없음. 유일하게 신경 쓸 건 클래스 불균형(다음 슬라이드).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9. 하이퍼파라미터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2999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511"/>
                <a:gridCol w="3455581"/>
                <a:gridCol w="5847906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파라미터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권장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n_estimators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트리 개수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300~500 (많을수록 안정적, 느려짐)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max_depth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트리 최대 깊이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과적합 방지용 제한 (예: 10~20)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min_samples_leaf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리프노드 최소 샘플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5~20 (사기 표본이 적어 너무 크면 안 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min_samples_split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분기 최소 샘플 수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min_samples_leaf와 유사하게 조정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max_features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분기마다 고려할 변수 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기본값 'sqrt'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class_weight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클래스 불균형 보정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'balanced' 필수! (사기 0.58%뿐이라 안 하면 다 정상으로 찍음)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random_state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재현성 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42 등 고정값 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n_jobs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병렬 처리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-1 (전체 코어 사용, 속도↑)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oob_score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자체 검증 점수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True 추천 (별도 검증셋 없이도 성능 추정 가능)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10. 평가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B83A2E"/>
                </a:solidFill>
              </a:defRPr>
            </a:pPr>
            <a:r>
              <a:t>정확도(accuracy)는 쓰면 안 됨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555555"/>
                </a:solidFill>
              </a:defRPr>
            </a:pPr>
            <a:r>
              <a:t>사기가 0.58%뿐이라, 전부 “정상”이라고만 찍어도 정확도 99.4%가 나와버림 → 의미 없음</a:t>
            </a:r>
          </a:p>
          <a:p>
            <a:pPr>
              <a:spcAft>
                <a:spcPts val="1000"/>
              </a:spcAft>
              <a:defRPr sz="1700" b="1">
                <a:solidFill>
                  <a:srgbClr val="2E5BB8"/>
                </a:solidFill>
              </a:defRPr>
            </a:pPr>
            <a:r>
              <a:t>대신 봐야 할 지표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555555"/>
                </a:solidFill>
              </a:defRPr>
            </a:pPr>
            <a:r>
              <a:t>재현율(Recall) = 실제 사기 중 몇 %를 잡았나 (TP/(TP+FN))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555555"/>
                </a:solidFill>
              </a:defRPr>
            </a:pPr>
            <a:r>
              <a:t>오탐률(FPR) = 정상인데 사기로 잘못 잡은 비율 (FP/(FP+TN))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555555"/>
                </a:solidFill>
              </a:defRPr>
            </a:pPr>
            <a:r>
              <a:t>정밀도(Precision) = 사기라고 판정한 것 중 진짜 사기 비율 (TP/(TP+FP))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555555"/>
                </a:solidFill>
              </a:defRPr>
            </a:pPr>
            <a:r>
              <a:t>ROC-AUC / PR-AUC = 임계값을 바꿔가며 종합 성능을 본 지표</a:t>
            </a:r>
          </a:p>
          <a:p>
            <a:pPr lvl="1">
              <a:spcAft>
                <a:spcPts val="1000"/>
              </a:spcAft>
              <a:defRPr sz="1500" b="0">
                <a:solidFill>
                  <a:srgbClr val="555555"/>
                </a:solidFill>
              </a:defRPr>
            </a:pPr>
            <a:r>
              <a:t>극단적 불균형 데이터에선 PR-AUC가 성능 차이를 더 민감하게 보여줌 → 둘 다 확인</a:t>
            </a:r>
          </a:p>
          <a:p>
            <a:pPr>
              <a:spcAft>
                <a:spcPts val="1000"/>
              </a:spcAft>
              <a:defRPr sz="1700" b="1">
                <a:solidFill>
                  <a:srgbClr val="2E5BB8"/>
                </a:solidFill>
              </a:defRPr>
            </a:pPr>
            <a:r>
              <a:t>threshold(기준선) 0.5에 고정하지 말고, 재현율·오탐 트레이드오프를 보며 조정 고려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11. 장점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22222"/>
                </a:solidFill>
              </a:defRPr>
            </a:pPr>
            <a:r>
              <a:t>스케일링·원-핫 인코딩 불필요 → 전처리가 간단함</a:t>
            </a:r>
          </a:p>
          <a:p>
            <a:pPr>
              <a:spcAft>
                <a:spcPts val="1600"/>
              </a:spcAft>
              <a:defRPr sz="1900" b="0">
                <a:solidFill>
                  <a:srgbClr val="222222"/>
                </a:solidFill>
              </a:defRPr>
            </a:pPr>
            <a:r>
              <a:t>비선형 패턴, 변수 간 상호작용을 자동으로 포착 (사람이 교차변수를 직접 안 만들어도 됨)</a:t>
            </a:r>
          </a:p>
          <a:p>
            <a:pPr>
              <a:spcAft>
                <a:spcPts val="1600"/>
              </a:spcAft>
              <a:defRPr sz="1900" b="0">
                <a:solidFill>
                  <a:srgbClr val="222222"/>
                </a:solidFill>
              </a:defRPr>
            </a:pPr>
            <a:r>
              <a:t>이상치에 상대적으로 강함 (개별 트리가 흔들려도 앙상블 평균으로 완화됨)</a:t>
            </a:r>
          </a:p>
          <a:p>
            <a:pPr>
              <a:spcAft>
                <a:spcPts val="1600"/>
              </a:spcAft>
              <a:defRPr sz="1900" b="0">
                <a:solidFill>
                  <a:srgbClr val="222222"/>
                </a:solidFill>
              </a:defRPr>
            </a:pPr>
            <a:r>
              <a:t>feature_importances_로 어떤 변수가 중요했는지 바로 확인 가능</a:t>
            </a:r>
          </a:p>
          <a:p>
            <a:pPr>
              <a:spcAft>
                <a:spcPts val="1600"/>
              </a:spcAft>
              <a:defRPr sz="1900" b="0">
                <a:solidFill>
                  <a:srgbClr val="222222"/>
                </a:solidFill>
              </a:defRPr>
            </a:pPr>
            <a:r>
              <a:t>oob_score로 별도 검증셋 없이도 일반화 성능을 추정할 수 있음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12. 단점과 보완 방향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단점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보완 방향</a:t>
                      </a:r>
                    </a:p>
                  </a:txBody>
                  <a:tcPr>
                    <a:solidFill>
                      <a:srgbClr val="2E5BB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상관 높은 변수가 있으면 중요도가 서로</a:t>
                      </a:r>
                    </a:p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나뉘어 착시가 생김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변수조합을 짤 때 상관분석·VIF로</a:t>
                      </a:r>
                    </a:p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미리 정리해서 넣기 (14번 슬라이드 참고)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극단적 불균형 데이터에서 소수클래스</a:t>
                      </a:r>
                    </a:p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(사기)를 놓치기 쉬움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class_weight='balanced' 적용,</a:t>
                      </a:r>
                    </a:p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threshold 조정, 재현율 중심 평가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트리가 많아지면 느리고 메모리를</a:t>
                      </a:r>
                    </a:p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많이 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n_estimators 적당히 조절, n_jobs=-1로</a:t>
                      </a:r>
                    </a:p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병렬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“숲” 전체를 계수 하나로 설명하기</a:t>
                      </a:r>
                    </a:p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어려움 (로지스틱보다 해석 어려움)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feature_importances_ 확인,</a:t>
                      </a:r>
                    </a:p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필요시 SHAP 값으로 보완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확률값(predict_proba)이 실제 확률과</a:t>
                      </a:r>
                    </a:p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다소 어긋나는 경향(보정 문제)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필요시 CalibratedClassifierCV로 보정</a:t>
                      </a:r>
                    </a:p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(선택 사항)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학습 데이터에 없던 완전히 새로운</a:t>
                      </a:r>
                    </a:p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사기 수법엔 취약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비지도 이상탐지(K-means·DBSCAN)를</a:t>
                      </a:r>
                    </a:p>
                    <a:p>
                      <a:pPr>
                        <a:defRPr sz="1250">
                          <a:solidFill>
                            <a:srgbClr val="222222"/>
                          </a:solidFill>
                        </a:defRPr>
                      </a:pPr>
                      <a:r>
                        <a:t>병행 — 팀에서 이미 계획된 부분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13. 주의할 점 체크리스트 (진행 과정)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B83A2E"/>
                </a:solidFill>
              </a:defRPr>
            </a:pPr>
            <a:r>
              <a:t>train/test는 이미 시간순으로 분리돼 있음 (80:20, 70:30)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랜덤 K-fold 교차검증을 쓰면 미래 정보가 새어 들어감(leakage) → 절대 랜덤 섞기 금지</a:t>
            </a:r>
          </a:p>
          <a:p>
            <a:pPr>
              <a:spcAft>
                <a:spcPts val="1200"/>
              </a:spcAft>
              <a:defRPr sz="1800" b="1">
                <a:solidFill>
                  <a:srgbClr val="B83A2E"/>
                </a:solidFill>
              </a:defRPr>
            </a:pPr>
            <a:r>
              <a:t>test 데이터로는 절대 학습(fit)하면 안 됨</a:t>
            </a:r>
          </a:p>
          <a:p>
            <a:pPr>
              <a:spcAft>
                <a:spcPts val="1200"/>
              </a:spcAft>
              <a:defRPr sz="1800" b="1">
                <a:solidFill>
                  <a:srgbClr val="B83A2E"/>
                </a:solidFill>
              </a:defRPr>
            </a:pPr>
            <a:r>
              <a:t>팀에 결과 공유할 땐 정확도가 아니라 재현율·오탐률·PR-AUC 중심으로</a:t>
            </a:r>
          </a:p>
          <a:p>
            <a:pPr>
              <a:spcAft>
                <a:spcPts val="1200"/>
              </a:spcAft>
              <a:defRPr sz="1800" b="1">
                <a:solidFill>
                  <a:srgbClr val="B83A2E"/>
                </a:solidFill>
              </a:defRPr>
            </a:pPr>
            <a:r>
              <a:t>random_state를 고정해서 나중에도 같은 결과가 재현되게</a:t>
            </a:r>
          </a:p>
          <a:p>
            <a:pPr>
              <a:spcAft>
                <a:spcPts val="1200"/>
              </a:spcAft>
              <a:defRPr sz="1800" b="1">
                <a:solidFill>
                  <a:srgbClr val="B83A2E"/>
                </a:solidFill>
              </a:defRPr>
            </a:pPr>
            <a:r>
              <a:t>feature_importances_ 해석 시, 상관 정리된 조합이라도 트리 개수가 적으면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555555"/>
                </a:solidFill>
              </a:defRPr>
            </a:pPr>
            <a:r>
              <a:t>결과가 흔들릴 수 있음 → n_estimators를 충분히 크게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14. 변수조합 설계 시 주의사항 (1)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이런 조합은 랜덤포레스트에서도 잘 안 될 수 있다 - 구조적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B83A2E"/>
                </a:solidFill>
              </a:defRPr>
            </a:pPr>
            <a:r>
              <a:t>① 원본변수 + 그걸 임계값으로 자른 변수를 같이 넣는 경우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예: 연속값 변수와, 그 값을 특정 기준 이상일 때만 남기고 나머지는 0으로 만든 버전을 동시에 사용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→ feature_importances_가 둘로 쪼개져서, 실제로 중요한 변수가 안 중요해 보이는 착시 발생</a:t>
            </a:r>
          </a:p>
          <a:p>
            <a:pPr>
              <a:spcAft>
                <a:spcPts val="800"/>
              </a:spcAft>
              <a:defRPr sz="1550" b="1">
                <a:solidFill>
                  <a:srgbClr val="B83A2E"/>
                </a:solidFill>
              </a:defRPr>
            </a:pPr>
            <a:r>
              <a:t>② 특정 조건에서만 값이 있고 나머지는 0으로 채운 변수 + 그 조건 자체를 나타내는 변수를 같이 넣는 경우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예: 특정 채널·조건에서만 계산되는 변수(그 외엔 전부 0)와, 그 채널·조건 여부를 나타내는 변수를 함께 사용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→ 두 변수가 사실상 같은 정보라 상관계수가 비정상적으로 높게(0.8 이상도) 나올 수 있음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→ 조합을 짜기 전 이 변수, 특정 조건에서 전부 0으로 채워지지 않았나부터 확인</a:t>
            </a:r>
          </a:p>
          <a:p>
            <a:pPr>
              <a:spcAft>
                <a:spcPts val="800"/>
              </a:spcAft>
              <a:defRPr sz="1550" b="1">
                <a:solidFill>
                  <a:srgbClr val="B83A2E"/>
                </a:solidFill>
              </a:defRPr>
            </a:pPr>
            <a:r>
              <a:t>③ 변수가 1~2개뿐인 조합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랜덤포레스트의 핵심 강점은 여러 변수의 조합·상호작용을 자동으로 찾아내는 것인데,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변수가 너무 적으면 이 강점을 살릴 수 없어 오히려 로지스틱회귀와 비슷하거나 못한 성능이 나올 수 있음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15. 변수조합 설계 시 주의사항 (2)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이런 조합은 랜덤포레스트에서도 잘 안 될 수 있다 - 성능 착시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B83A2E"/>
                </a:solidFill>
              </a:defRPr>
            </a:pPr>
            <a:r>
              <a:t>① 성능이 너무 잘 나오면 오히려 의심 (데이터 누수)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재현율·AUC가 99% 이상처럼 비정상적으로 높으면, 그 조합 안에 미래 정보나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사실상 정답(is_fraud)과 같은 정보가 섞여 있을 가능성이 높음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→ 실제 배포 시엔 절대 이 정도 성능이 안 나옴, 변수 정의를 다시 확인해야 함</a:t>
            </a:r>
          </a:p>
          <a:p>
            <a:pPr>
              <a:spcAft>
                <a:spcPts val="800"/>
              </a:spcAft>
              <a:defRPr sz="1550" b="1">
                <a:solidFill>
                  <a:srgbClr val="B83A2E"/>
                </a:solidFill>
              </a:defRPr>
            </a:pPr>
            <a:r>
              <a:t>② 표본이 매우 적은 조건에서 나온 변수를 그대로 신뢰하는 경우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예: 시간대×업종×금액대처럼 겹겹이 쪼갠 조합의 표본이 100건 미만이면,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그 구간의 높은 사기율은 진짜 패턴이 아니라 우연일 수 있음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→ feature_importances_ 상위에 이런 변수가 있으면 실제 표본 수도 같이 확인</a:t>
            </a:r>
          </a:p>
          <a:p>
            <a:pPr>
              <a:spcAft>
                <a:spcPts val="800"/>
              </a:spcAft>
              <a:defRPr sz="1550" b="1">
                <a:solidFill>
                  <a:srgbClr val="B83A2E"/>
                </a:solidFill>
              </a:defRPr>
            </a:pPr>
            <a:r>
              <a:t>③ 클래스 불균형을 안 챙기는 경우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class_weight='balanced'를 빼먹으면 모델이 그냥 전부 정상이라고 찍어버림</a:t>
            </a:r>
          </a:p>
          <a:p>
            <a:pPr lvl="1">
              <a:spcAft>
                <a:spcPts val="800"/>
              </a:spcAft>
              <a:defRPr sz="1350" b="0">
                <a:solidFill>
                  <a:srgbClr val="555555"/>
                </a:solidFill>
              </a:defRPr>
            </a:pPr>
            <a:r>
              <a:t>(사기 0.58%뿐이라 이래도 정확도는 99.4%로 높게 나옴) → 재현율이 0에 가까우면 이걸 의심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2222"/>
                </a:solidFill>
              </a:defRPr>
            </a:pPr>
            <a:r>
              <a:t>16.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2E5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 b="0">
                <a:solidFill>
                  <a:srgbClr val="222222"/>
                </a:solidFill>
              </a:defRPr>
            </a:pPr>
            <a:r>
              <a:t>랜덤포레스트 = 여러 결정트리(위원회)의 다수결 — 부트스트랩 샘플링 + 랜덤 변수 서브셋으로 다양성 확보</a:t>
            </a:r>
          </a:p>
          <a:p>
            <a:pPr>
              <a:spcAft>
                <a:spcPts val="1800"/>
              </a:spcAft>
              <a:defRPr sz="1900" b="0">
                <a:solidFill>
                  <a:srgbClr val="222222"/>
                </a:solidFill>
              </a:defRPr>
            </a:pPr>
            <a:r>
              <a:t>전처리는 비교적 간단함(스케일링·원-핫 불필요) — 단, 클래스 불균형 보정(class_weight)은 필수</a:t>
            </a:r>
          </a:p>
          <a:p>
            <a:pPr>
              <a:spcAft>
                <a:spcPts val="1800"/>
              </a:spcAft>
              <a:defRPr sz="1900" b="0">
                <a:solidFill>
                  <a:srgbClr val="222222"/>
                </a:solidFill>
              </a:defRPr>
            </a:pPr>
            <a:r>
              <a:t>상관관계 정리된 변수조합(1~5) + 재현율·오탐률 중심 평가로 신뢰도 있는 결과 도출</a:t>
            </a:r>
          </a:p>
          <a:p>
            <a:pPr>
              <a:spcAft>
                <a:spcPts val="1800"/>
              </a:spcAft>
              <a:defRPr sz="1900" b="0">
                <a:solidFill>
                  <a:srgbClr val="222222"/>
                </a:solidFill>
              </a:defRPr>
            </a:pPr>
            <a:r>
              <a:t>로지스틱회귀·XGBoost·LightGBM과 같은 조합으로 비교해 팀 최종 모델 선정에 기여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55555"/>
                </a:solidFill>
              </a:defRPr>
            </a:pPr>
            <a:r>
              <a:t>FDS 프로젝트 · 랜덤포레스트 학습자료 · 다영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