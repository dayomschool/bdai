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랜덤포레스트 결과 공유</a:t>
            </a:r>
          </a:p>
          <a:p>
            <a:pPr>
              <a:spcBef>
                <a:spcPts val="1400"/>
              </a:spcBef>
              <a:defRPr sz="1900">
                <a:solidFill>
                  <a:srgbClr val="2E5BB8"/>
                </a:solidFill>
              </a:defRPr>
            </a:pPr>
            <a:r>
              <a:t>팀 공통 변수조합 5개 × 팀 공통 조건으로 비교</a:t>
            </a:r>
          </a:p>
          <a:p>
            <a:pPr>
              <a:spcBef>
                <a:spcPts val="1000"/>
              </a:spcBef>
              <a:defRPr sz="1400">
                <a:solidFill>
                  <a:srgbClr val="555555"/>
                </a:solidFill>
              </a:defRPr>
            </a:pPr>
            <a:r>
              <a:t>담당: 다영 (랜덤포레스트) — XGBoost(나겸) · LightGBM(민정) · 로지스틱회귀(세진)와 비교용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74519"/>
            <a:ext cx="2743200" cy="3810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1. 팀 공통 실험 조건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2. 랜덤포레스트의 “조기종료 100” 구현 방법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3. 팀 공통 변수조합 5개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4. 전체 결과 비교표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5. 최고 조합(조합4) 상세 — Confusion Matrix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6. 최고 조합(조합4) — Feature Importance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7. 전체 5개 조합 Confusion Matrix 상세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8. 알고리즘 간 교차검증 — XGBoost와 비교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9. 알고리즘별 변수 중요도 순위 차이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10. 왜 한 단계 더 나갔나 — 시간순 교차검증 &amp; 튜닝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11. 시간순 3-Fold 교차검증 설계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12. 하이퍼파라미터 그리드 탐색 결과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13. 최종 튜닝모델 비교</a:t>
            </a:r>
          </a:p>
          <a:p>
            <a:pPr>
              <a:spcAft>
                <a:spcPts val="1300"/>
              </a:spcAft>
              <a:defRPr sz="1900" b="0">
                <a:solidFill>
                  <a:srgbClr val="222222"/>
                </a:solidFill>
              </a:defRPr>
            </a:pPr>
            <a:r>
              <a:t>14. 결론 및 추천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1. 팀 공통 실험 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5002"/>
                <a:gridCol w="7719237"/>
              </a:tblGrid>
              <a:tr h="52578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Train/Validation 분할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80:20, 시간순 (train 1,037,340건 / val 259,335건)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불균형 처리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scale_pos_weight = 172.82 (정상 1,031,372건 ÷ 사기 5,968건, 자동계산)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학습 중단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100 (조기종료 patience)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평가지표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PR-AUC, F1, Recall, Precision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공통 임계값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random seed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하이퍼파라미터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각자 모델에 맞게 자유 최적화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2. 랜덤포레스트의 “조기종료 100” 구현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 b="1">
                <a:solidFill>
                  <a:srgbClr val="222222"/>
                </a:solidFill>
              </a:defRPr>
            </a:pPr>
            <a:r>
              <a:t>XGBoost/LightGBM은 트리를 순서대로(부스팅) 쌓아가면서, 검증 성능이 나빠지면 바로 멈출 수 있음</a:t>
            </a:r>
          </a:p>
          <a:p>
            <a:pPr>
              <a:spcAft>
                <a:spcPts val="1100"/>
              </a:spcAft>
              <a:defRPr sz="1700" b="1">
                <a:solidFill>
                  <a:srgbClr val="B83A2E"/>
                </a:solidFill>
              </a:defRPr>
            </a:pPr>
            <a:r>
              <a:t>랜덤포레스트는 트리들이 서로 독립적으로 만들어지는 방식(배깅)이라, 원래 “조기종료” 개념이 없음</a:t>
            </a:r>
          </a:p>
          <a:p>
            <a:pPr>
              <a:spcAft>
                <a:spcPts val="1100"/>
              </a:spcAft>
              <a:defRPr sz="1700" b="1">
                <a:solidFill>
                  <a:srgbClr val="2E5BB8"/>
                </a:solidFill>
              </a:defRPr>
            </a:pPr>
            <a:r>
              <a:t>그래서 이렇게 구현함</a:t>
            </a:r>
          </a:p>
          <a:p>
            <a:pPr lvl="1">
              <a:spcAft>
                <a:spcPts val="1100"/>
              </a:spcAft>
              <a:defRPr sz="1500" b="0">
                <a:solidFill>
                  <a:srgbClr val="555555"/>
                </a:solidFill>
              </a:defRPr>
            </a:pPr>
            <a:r>
              <a:t>트리를 10개씩 늘려가며 validation PR-AUC를 확인</a:t>
            </a:r>
          </a:p>
          <a:p>
            <a:pPr lvl="1">
              <a:spcAft>
                <a:spcPts val="1100"/>
              </a:spcAft>
              <a:defRPr sz="1500" b="0">
                <a:solidFill>
                  <a:srgbClr val="555555"/>
                </a:solidFill>
              </a:defRPr>
            </a:pPr>
            <a:r>
              <a:t>100그루를 더 늘려도(=10개씩 10번 연속) 최고기록을 못 갈아치우면 중단</a:t>
            </a:r>
          </a:p>
          <a:p>
            <a:pPr lvl="1">
              <a:spcAft>
                <a:spcPts val="1100"/>
              </a:spcAft>
              <a:defRPr sz="1500" b="0">
                <a:solidFill>
                  <a:srgbClr val="555555"/>
                </a:solidFill>
              </a:defRPr>
            </a:pPr>
            <a:r>
              <a:t>그 중 최고기록이 나온 지점의 트리 개수로 최종 모델 확정</a:t>
            </a:r>
          </a:p>
          <a:p>
            <a:pPr>
              <a:spcAft>
                <a:spcPts val="1100"/>
              </a:spcAft>
              <a:defRPr sz="1700" b="1">
                <a:solidFill>
                  <a:srgbClr val="2E8B57"/>
                </a:solidFill>
              </a:defRPr>
            </a:pPr>
            <a:r>
              <a:t>→ XGBoost의 “100라운드 참을성”과 같은 정신을 랜덤포레스트 방식으로 옮긴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3. 팀 공통 변수조합 5개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299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469571"/>
                <a:gridCol w="1469571"/>
                <a:gridCol w="7347857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조합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변수(단위)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실제컬럼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구성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23개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category, amt, trans_hour, age, recent_24h_high_amt_count,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amt_to_prior_median_ratio, rolling_sum_amt_1h, amt_zscore_card,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prior_normal_median_amt, count_30min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11개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24개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조합1 + merchant_change_count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11개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24개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조합1 + high_speed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19개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recent_24h_high_amt_count, amt_to_prior_median_ratio,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category, amt, trans_hour, age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조합5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19개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32개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category, amt, is_online, recent_24h_high_amt_count,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category_recent_fraud_rate, speed_2, customer_mean_amt,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customer_std_amt, amt_ratio_to_mean, amt_zscore_card,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customer_transaction_count, trans_hour, age, rolling_sum_amt_1h,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prior_normal_median_amt, amt_to_prior_median_ratio,</a:t>
                      </a:r>
                    </a:p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risk_time_22_04, interact_repeat_category, has_prior_normal_transaction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4. 전체 결과 비교표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PR-AUC 내림차순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1161287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963"/>
                <a:gridCol w="1274584"/>
                <a:gridCol w="1274584"/>
                <a:gridCol w="1557825"/>
                <a:gridCol w="1274584"/>
                <a:gridCol w="1274584"/>
                <a:gridCol w="1416204"/>
                <a:gridCol w="1274584"/>
                <a:gridCol w="1132963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조합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변수단위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실제컬럼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n_estimators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조합4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0.9635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0.9170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0.9122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2222"/>
                          </a:solidFill>
                        </a:defRPr>
                      </a:pPr>
                      <a:r>
                        <a:t>0.9146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조합2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0.9608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0.9305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0.8875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0.9085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조합1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0.8882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조합3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0.9606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0.9285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0.8869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0.9072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조합5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0.9619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0.8218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22222"/>
                          </a:solidFill>
                        </a:defRPr>
                      </a:pPr>
                      <a:r>
                        <a:t>0.8864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E5BB8"/>
                </a:solidFill>
              </a:defRPr>
            </a:pPr>
            <a:r>
              <a:t>→ 조합4(6개 변수)가 PR-AUC 0.9635로 1등, 게다가 트리도 90개로 5개 중 제일 적게 씀(제일 가벼운 모델)</a:t>
            </a:r>
          </a:p>
          <a:p>
            <a:pPr>
              <a:spcBef>
                <a:spcPts val="800"/>
              </a:spcBef>
              <a:defRPr sz="1500">
                <a:solidFill>
                  <a:srgbClr val="555555"/>
                </a:solidFill>
              </a:defRPr>
            </a:pPr>
            <a:r>
              <a:t>5개 조합 전부 PR-AUC 0.956~0.964로 서로 꽤 비슷한 수준 (민정님 예상대로)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5. 최고 조합(조합4) 상세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Confusion Matrix (threshold=0.90)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554480"/>
          <a:ext cx="7589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예측_정상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700">
                          <a:solidFill>
                            <a:srgbClr val="FFFFFF"/>
                          </a:solidFill>
                        </a:defRPr>
                      </a:pPr>
                      <a:r>
                        <a:t>예측_사기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2222"/>
                          </a:solidFill>
                        </a:defRPr>
                      </a:pPr>
                      <a:r>
                        <a:t>실제_정상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2222"/>
                          </a:solidFill>
                        </a:defRPr>
                      </a:pPr>
                      <a:r>
                        <a:t>257,670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2222"/>
                          </a:solidFill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2222"/>
                          </a:solidFill>
                        </a:defRPr>
                      </a:pPr>
                      <a:r>
                        <a:t>실제_사기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2222"/>
                          </a:solidFill>
                        </a:defRPr>
                      </a:pPr>
                      <a:r>
                        <a:t>135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22222"/>
                          </a:solidFill>
                        </a:defRPr>
                      </a:pPr>
                      <a:r>
                        <a:t>1,403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3749039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5BB8"/>
                </a:solidFill>
              </a:defRPr>
            </a:pPr>
            <a:r>
              <a:t>Precision = 91.70%   Recall = 91.22%   F1 = 0.9146</a:t>
            </a:r>
          </a:p>
          <a:p>
            <a:pPr>
              <a:spcBef>
                <a:spcPts val="1400"/>
              </a:spcBef>
              <a:defRPr sz="1700">
                <a:solidFill>
                  <a:srgbClr val="555555"/>
                </a:solidFill>
              </a:defRPr>
            </a:pPr>
            <a:r>
              <a:t>실제 사기 1,538건 중 1,403건을 잡아냄 (놓친 사기 135건)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정상 거래 257,797건 중 127건만 오탐 (오탐률 0.05%)</a:t>
            </a:r>
          </a:p>
          <a:p>
            <a:pPr>
              <a:spcBef>
                <a:spcPts val="1400"/>
              </a:spcBef>
              <a:defRPr sz="1700">
                <a:solidFill>
                  <a:srgbClr val="555555"/>
                </a:solidFill>
              </a:defRPr>
            </a:pPr>
            <a:r>
              <a:t>n_estimators = 90 (조기종료로 자동 결정된 트리 개수)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6. 최고 조합(조합4) —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463040"/>
          <a:ext cx="85039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593"/>
                <a:gridCol w="4944139"/>
                <a:gridCol w="2373186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변수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중요도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amt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31.69%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25.12%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amt_to_prior_median_ratio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23.71%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trans_hour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8.75%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category_gas_transport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1.25%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category_grocery_pos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category_shopping_net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1.01%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7. 전체 5개 조합 Confusion Matrix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554480"/>
          <a:ext cx="941831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093"/>
                <a:gridCol w="2173458"/>
                <a:gridCol w="2173458"/>
                <a:gridCol w="1811215"/>
                <a:gridCol w="1630093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조합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잡은 사기(TP)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놓친 사기(FN)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오탐(FP)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조합1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1,366건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172건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103건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0.9606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조합2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1,365건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173건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102건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0.9608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조합3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1,364건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174건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105건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0.9606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조합4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1,403건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135건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127건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0.9635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조합5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1,264건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274건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50건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0.9561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실제 사기 전체 1,538건 기준 (validation 259,335건 중)</a:t>
            </a:r>
          </a:p>
          <a:p>
            <a:pPr>
              <a:spcBef>
                <a:spcPts val="800"/>
              </a:spcBef>
              <a:defRPr sz="1500">
                <a:solidFill>
                  <a:srgbClr val="555555"/>
                </a:solidFill>
              </a:defRPr>
            </a:pPr>
            <a:r>
              <a:t>조합5는 오탐이 제일 적지만(50건) 놓친 사기가 제일 많음(274건) — 정밀도 우선 성향의 조합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8. 알고리즘 간 교차검증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조합4, XGBoost에서도 1등이었음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114299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85"/>
                <a:gridCol w="5080000"/>
                <a:gridCol w="4535714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XGBoost (자체 전진선택으로 발견)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랜덤포레스트 (팀 공통조합 중)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채택 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recent_24h_high_amt_count, amt_to_prior_median_ratio,</a:t>
                      </a:r>
                    </a:p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category, amt, trans_hour, age (6개)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조합4와 완전히 동일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0.9708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0.9635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찾은 방법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베이스라인→전진선택→후진제거로</a:t>
                      </a:r>
                    </a:p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177개 조합 중 자체 탐색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팀이 미리 정한 5개 조합 중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5BB8"/>
                </a:solidFill>
              </a:defRPr>
            </a:pPr>
            <a:r>
              <a:t>완전히 다른 방법(자체 탐색 vs 팀 공통 비교)과 다른 알고리즘(XGBoost vs 랜덤포레스트)으로 찾았는데,</a:t>
            </a:r>
          </a:p>
          <a:p>
            <a:pPr>
              <a:defRPr sz="1600" b="1">
                <a:solidFill>
                  <a:srgbClr val="2E5BB8"/>
                </a:solidFill>
              </a:defRPr>
            </a:pPr>
            <a:r>
              <a:t>같은 변수조합이 둘 다 1등 → 이 6개 변수조합이 알고리즘을 가리지 않는 좋은 조합이라는 강력한 근거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9. 알고리즘별 변수 중요도 순위 차이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같은 조합4, 다른 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554480"/>
          <a:ext cx="978407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089"/>
                <a:gridCol w="4304995"/>
                <a:gridCol w="4304995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랜덤포레스트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 (20.6%)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amt (31.7%)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amt (18.4%)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recent_24h_high_amt_count (25.1%)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category_gas_transport (15.4%)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amt_to_prior_median_ratio (23.7%)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4위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category_grocery_net (6.7%)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trans_hour (8.8%)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같은 변수조합이라도 알고리즘 구조에 따라 “무엇을 더 비중있게 보는지”가 다름</a:t>
            </a:r>
          </a:p>
          <a:p>
            <a:pPr>
              <a:spcBef>
                <a:spcPts val="600"/>
              </a:spcBef>
              <a:defRPr sz="1400">
                <a:solidFill>
                  <a:srgbClr val="555555"/>
                </a:solidFill>
              </a:defRPr>
            </a:pPr>
            <a:r>
              <a:t>(XGBoost는 순차적 오차보정 방식, 랜덤포레스트는 분기별 정보이득 방식이라 중요도 계산 원리 자체가 다름)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10. 여기서 한 단계 더 — 시간순 교차검증 &amp; 튜닝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5개 조합 비교는 “난을 80:20로 1번온 결과”일 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B83A2E"/>
                </a:solidFill>
              </a:defRPr>
            </a:pPr>
            <a:r>
              <a:t>지금까지 결과(1~9번 슬라이드)는 데이터를 딱 1번 80:20으로 나눈 결과라서,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우연히 그 구간에서만 잘 나온 건 아닌지 확인이 더 필요함</a:t>
            </a:r>
          </a:p>
          <a:p>
            <a:pPr>
              <a:spcAft>
                <a:spcPts val="1200"/>
              </a:spcAft>
              <a:defRPr sz="1700" b="1">
                <a:solidFill>
                  <a:srgbClr val="2E5BB8"/>
                </a:solidFill>
              </a:defRPr>
            </a:pPr>
            <a:r>
              <a:t>그래서 1등이었던 조합4를 대상으로 2가지를 추가로 진행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① 시간순 3-Fold 교차검증 — 다른 시기에도 안정적으로 잘 나오는지 확인</a:t>
            </a:r>
          </a:p>
          <a:p>
            <a:pPr lvl="1">
              <a:spcAft>
                <a:spcPts val="1200"/>
              </a:spcAft>
              <a:defRPr sz="1500" b="0">
                <a:solidFill>
                  <a:srgbClr val="555555"/>
                </a:solidFill>
              </a:defRPr>
            </a:pPr>
            <a:r>
              <a:t>② 하이퍼파라미터 튜닝 — 랜덤포레스트 설정값을 더 최적화할 여지가 있는지 확인</a:t>
            </a:r>
          </a:p>
          <a:p>
            <a:pPr>
              <a:spcAft>
                <a:spcPts val="1200"/>
              </a:spcAft>
              <a:defRPr sz="1700" b="1">
                <a:solidFill>
                  <a:srgbClr val="555555"/>
                </a:solidFill>
              </a:defRPr>
            </a:pPr>
            <a:r>
              <a:t>참고: 민정님 LightGBM 분석과 같은 시간 구간으로 나눠서, 나중에 서로 비교 가능하게 맞춤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11. 시간순 3-Fold 교차검증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3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666"/>
                <a:gridCol w="2902095"/>
                <a:gridCol w="2902095"/>
                <a:gridCol w="1995190"/>
                <a:gridCol w="199519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학습(Train) 기간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검증(Val) 기간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검증 건수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검증 사기건수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Fold1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2019.01 ~ 2019.10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2019.10 ~ 2019.12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216,113건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1,091건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Fold2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2019.01 ~ 2019.12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2019.12 ~ 2020.03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216,112건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1,363건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Fold3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2019.01 ~ 2020.03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2020.03 ~ 2020.06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216,113건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1,225건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E5BB8"/>
                </a:solidFill>
              </a:defRPr>
            </a:pPr>
            <a:r>
              <a:t>전체 기간을 6등분해서, Fold를 거듭할수록 학습 구간은 점점 넓어지고 검증 구간은 그 다음 시기로 이동</a:t>
            </a:r>
          </a:p>
          <a:p>
            <a:pPr>
              <a:spcBef>
                <a:spcPts val="800"/>
              </a:spcBef>
              <a:defRPr sz="1600" b="1">
                <a:solidFill>
                  <a:srgbClr val="2E8B57"/>
                </a:solidFill>
              </a:defRPr>
            </a:pPr>
            <a:r>
              <a:t>모든 Fold에서 학습 기간이 검증 기간보다 항상 앞섬 → 미래정보 누수 없음 (3개 Fold 전부 확인 완료)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12. 하이퍼파라미터 그리드 탐색 결과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max_depth × min_samples_leaf 9개 조합 × 3개 Fold = 27번 학습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0" y="1554480"/>
          <a:ext cx="886967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191"/>
                <a:gridCol w="2506648"/>
                <a:gridCol w="2506648"/>
                <a:gridCol w="1928191"/>
              </a:tblGrid>
              <a:tr h="420624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max_depth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min_samples_leaf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평균 PR-AUC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표준편차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0.9619 ← 채택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22222"/>
                          </a:solidFill>
                        </a:defRPr>
                      </a:pPr>
                      <a:r>
                        <a:t>0.0055</a:t>
                      </a:r>
                    </a:p>
                  </a:txBody>
                  <a:tcPr>
                    <a:solidFill>
                      <a:srgbClr val="FFF2C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0.9600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0.0059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0.9580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0.0051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0.9552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0.0065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0.9371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0.0060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0.9357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222"/>
                          </a:solidFill>
                        </a:defRPr>
                      </a:pPr>
                      <a:r>
                        <a:t>0.0078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5BB8"/>
                </a:solidFill>
              </a:defRPr>
            </a:pPr>
            <a:r>
              <a:t>최종 채택: max_depth=20, min_samples_leaf=5 (평균 PR-AUC 0.9619, 표준편차 0.0055로 3개 Fold 다 안정적)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13. 최종 튜닝모델 — 튜닝 전후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3271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440"/>
                <a:gridCol w="3899139"/>
                <a:gridCol w="3899139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튜닝 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튜닝 후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하이퍼파라미터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max_depth=15, min_samples_leaf=10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max_depth=20, min_samples_leaf=5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트리 개수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90개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210개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0.9635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0.9660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91.70%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94.05%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91.22%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90.38%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0.9146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0.9218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577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B57"/>
                </a:solidFill>
              </a:defRPr>
            </a:pPr>
            <a:r>
              <a:t>튜닝으로 PR-AUC · Precision · F1 다 개선됨 (재현율만 소폭 하락, 정밀도 개선폭이 더 커서 전체적으로 향상)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22222"/>
                </a:solidFill>
              </a:defRPr>
            </a:pPr>
            <a:r>
              <a:t>14. 결론 및 추천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 b="1">
                <a:solidFill>
                  <a:srgbClr val="2E8B57"/>
                </a:solidFill>
              </a:defRPr>
            </a:pPr>
            <a:r>
              <a:t>조합4(6개 변수) + 튜닝된 하이퍼파라미터를 다영님 랜덤포레스트 최종 결과로 채택</a:t>
            </a:r>
          </a:p>
          <a:p>
            <a:pPr lvl="1">
              <a:spcAft>
                <a:spcPts val="1000"/>
              </a:spcAft>
              <a:defRPr sz="1450" b="0">
                <a:solidFill>
                  <a:srgbClr val="555555"/>
                </a:solidFill>
              </a:defRPr>
            </a:pPr>
            <a:r>
              <a:t>1차 비교(5개 조합)에서도 PR-AUC 0.9635로 최고, 시간순 3-Fold 교차검증(평균 0.9619)으로도 안정성 확인됨</a:t>
            </a:r>
          </a:p>
          <a:p>
            <a:pPr lvl="1">
              <a:spcAft>
                <a:spcPts val="1000"/>
              </a:spcAft>
              <a:defRPr sz="1450" b="0">
                <a:solidFill>
                  <a:srgbClr val="555555"/>
                </a:solidFill>
              </a:defRPr>
            </a:pPr>
            <a:r>
              <a:t>하이퍼파라미터 튜닝 후 최종 성능: PR-AUC 0.9660, Precision 94.05%, Recall 90.38%, F1 0.9218</a:t>
            </a:r>
          </a:p>
          <a:p>
            <a:pPr lvl="1">
              <a:spcAft>
                <a:spcPts val="1000"/>
              </a:spcAft>
              <a:defRPr sz="1450" b="0">
                <a:solidFill>
                  <a:srgbClr val="555555"/>
                </a:solidFill>
              </a:defRPr>
            </a:pPr>
            <a:r>
              <a:t>XGBoost에서도 동일 조합(조합4)이 최고 — 알고리즘 안 가리는 신뢰도 높은 변수조합</a:t>
            </a:r>
          </a:p>
          <a:p>
            <a:pPr>
              <a:spcAft>
                <a:spcPts val="1000"/>
              </a:spcAft>
              <a:defRPr sz="1650" b="1">
                <a:solidFill>
                  <a:srgbClr val="B83A2E"/>
                </a:solidFill>
              </a:defRPr>
            </a:pPr>
            <a:r>
              <a:t>남은 참고사항</a:t>
            </a:r>
          </a:p>
          <a:p>
            <a:pPr lvl="1">
              <a:spcAft>
                <a:spcPts val="1000"/>
              </a:spcAft>
              <a:defRPr sz="1450" b="0">
                <a:solidFill>
                  <a:srgbClr val="555555"/>
                </a:solidFill>
              </a:defRPr>
            </a:pPr>
            <a:r>
              <a:t>그리드 탐색에서 max_depth가 클수록 계속 좋아지는 추세였음(10&lt;15&lt;20) — 20보다 깊게도 시도해볼 여지 있음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팀 회의에 가져갈 것</a:t>
            </a:r>
          </a:p>
          <a:p>
            <a:pPr lvl="1">
              <a:spcAft>
                <a:spcPts val="1000"/>
              </a:spcAft>
              <a:defRPr sz="1450" b="0">
                <a:solidFill>
                  <a:srgbClr val="555555"/>
                </a:solidFill>
              </a:defRPr>
            </a:pPr>
            <a:r>
              <a:t>조합4 최종 튜닝 결과(이 자료 전체) + XGBoost와의 교차검증 결과(10번 슬라이드)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FDS 프로젝트 · 랜덤포레스트 팀 공통조합 결과 · 다영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