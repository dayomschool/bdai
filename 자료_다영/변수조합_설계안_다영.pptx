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4" r:id="rId14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printerSettings" Target="printerSettings/printerSettings1.bin"></Relationship><Relationship Id="rId2" Type="http://schemas.openxmlformats.org/officeDocument/2006/relationships/tableStyles" Target="tableStyles.xml"></Relationship><Relationship Id="rId14" Type="http://schemas.openxmlformats.org/officeDocument/2006/relationships/slideMaster" Target="slideMasters/slideMaster1.xml"></Relationship><Relationship Id="rId15" Type="http://schemas.openxmlformats.org/officeDocument/2006/relationships/theme" Target="theme/theme1.xml"></Relationship><Relationship Id="rId16" Type="http://schemas.openxmlformats.org/officeDocument/2006/relationships/slide" Target="slides/slide1.xml"></Relationship><Relationship Id="rId17" Type="http://schemas.openxmlformats.org/officeDocument/2006/relationships/slide" Target="slides/slide2.xml"></Relationship><Relationship Id="rId18" Type="http://schemas.openxmlformats.org/officeDocument/2006/relationships/slide" Target="slides/slide3.xml"></Relationship><Relationship Id="rId19" Type="http://schemas.openxmlformats.org/officeDocument/2006/relationships/slide" Target="slides/slide4.xml"></Relationship><Relationship Id="rId20" Type="http://schemas.openxmlformats.org/officeDocument/2006/relationships/slide" Target="slides/slide5.xml"></Relationship><Relationship Id="rId21" Type="http://schemas.openxmlformats.org/officeDocument/2006/relationships/slide" Target="slides/slide6.xml"></Relationship><Relationship Id="rId22" Type="http://schemas.openxmlformats.org/officeDocument/2006/relationships/slide" Target="slides/slide7.xml"></Relationship><Relationship Id="rId23" Type="http://schemas.openxmlformats.org/officeDocument/2006/relationships/slide" Target="slides/slide8.xml"></Relationship><Relationship Id="rId24" Type="http://schemas.openxmlformats.org/officeDocument/2006/relationships/slide" Target="slides/slide9.xml"></Relationship><Relationship Id="rId25" Type="http://schemas.openxmlformats.org/officeDocument/2006/relationships/slide" Target="slides/slide10.xml"></Relationship><Relationship Id="rId26" Type="http://schemas.openxmlformats.org/officeDocument/2006/relationships/slide" Target="slides/slide11.xml"></Relationship><Relationship Id="rId27" Type="http://schemas.openxmlformats.org/officeDocument/2006/relationships/slide" Target="slides/slide12.xml"></Relationship><Relationship Id="rId28" Type="http://schemas.openxmlformats.org/officeDocument/2006/relationships/slide" Target="slides/slide13.xml"></Relationship><Relationship Id="rId29" Type="http://schemas.openxmlformats.org/officeDocument/2006/relationships/viewProps" Target="viewProps.xml"></Relationship><Relationship Id="rId30" Type="http://schemas.openxmlformats.org/officeDocument/2006/relationships/presProps" Target="presProps.xml"></Relationship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22222"/>
                </a:solidFill>
              </a:defRPr>
            </a:pPr>
            <a:r>
              <a:t>변수조합 설계안</a:t>
            </a:r>
          </a:p>
          <a:p>
            <a:pPr>
              <a:spcBef>
                <a:spcPts val="1400"/>
              </a:spcBef>
              <a:defRPr sz="2000">
                <a:solidFill>
                  <a:srgbClr val="2E5BB8"/>
                </a:solidFill>
              </a:defRPr>
            </a:pPr>
            <a:r>
              <a:t>이상거래 탐지(FDS) 모델링 — 로지스틱회귀 · 랜덤포레스트 · XGBoost · LightGBM 공통 실험</a:t>
            </a:r>
          </a:p>
          <a:p>
            <a:pPr>
              <a:spcBef>
                <a:spcPts val="1000"/>
              </a:spcBef>
              <a:defRPr sz="1500">
                <a:solidFill>
                  <a:srgbClr val="555555"/>
                </a:solidFill>
              </a:defRPr>
            </a:pPr>
            <a:r>
              <a:t>팀 전체 가설 · 변수 종합 및 다중공선성 검토 — 다영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48840"/>
            <a:ext cx="2743200" cy="3810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0">
                <a:solidFill>
                  <a:srgbClr val="222222"/>
                </a:solidFill>
              </a:defRPr>
            </a:pPr>
            <a:r>
              <a:t>1. 이 작업의 목적 — 왜 변수조합을 통일해서 비교하는가</a:t>
            </a:r>
          </a:p>
          <a:p>
            <a:pPr>
              <a:spcAft>
                <a:spcPts val="1800"/>
              </a:spcAft>
              <a:defRPr sz="2200" b="0">
                <a:solidFill>
                  <a:srgbClr val="222222"/>
                </a:solidFill>
              </a:defRPr>
            </a:pPr>
            <a:r>
              <a:t>2. 먼저 확인할 것 — 데이터셋 자체의 이슈 (is_online 삭제)</a:t>
            </a:r>
          </a:p>
          <a:p>
            <a:pPr>
              <a:spcAft>
                <a:spcPts val="1800"/>
              </a:spcAft>
              <a:defRPr sz="2200" b="0">
                <a:solidFill>
                  <a:srgbClr val="222222"/>
                </a:solidFill>
              </a:defRPr>
            </a:pPr>
            <a:r>
              <a:t>3. 팀 전체 가설 · 변수 종합 (담당자별)</a:t>
            </a:r>
          </a:p>
          <a:p>
            <a:pPr>
              <a:spcAft>
                <a:spcPts val="1800"/>
              </a:spcAft>
              <a:defRPr sz="2200" b="0">
                <a:solidFill>
                  <a:srgbClr val="222222"/>
                </a:solidFill>
              </a:defRPr>
            </a:pPr>
            <a:r>
              <a:t>4. 신규 추가 변수 제안 2가지</a:t>
            </a:r>
          </a:p>
          <a:p>
            <a:pPr>
              <a:spcAft>
                <a:spcPts val="1800"/>
              </a:spcAft>
              <a:defRPr sz="2200" b="0">
                <a:solidFill>
                  <a:srgbClr val="222222"/>
                </a:solidFill>
              </a:defRPr>
            </a:pPr>
            <a:r>
              <a:t>5. 다중공선성 체크 결과</a:t>
            </a:r>
          </a:p>
          <a:p>
            <a:pPr>
              <a:spcAft>
                <a:spcPts val="1800"/>
              </a:spcAft>
              <a:defRPr sz="2200" b="0">
                <a:solidFill>
                  <a:srgbClr val="222222"/>
                </a:solidFill>
              </a:defRPr>
            </a:pPr>
            <a:r>
              <a:t>6. 최종 변수조합 1~4 (+ 옵션 조합5)</a:t>
            </a:r>
          </a:p>
          <a:p>
            <a:pPr>
              <a:spcAft>
                <a:spcPts val="1800"/>
              </a:spcAft>
              <a:defRPr sz="2200" b="0">
                <a:solidFill>
                  <a:srgbClr val="222222"/>
                </a:solidFill>
              </a:defRPr>
            </a:pPr>
            <a:r>
              <a:t>7. 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875" cy="78422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  <a:defRPr sz="3000" b="1">
                <a:solidFill>
                  <a:srgbClr val="222222"/>
                </a:solidFill>
              </a:defRPr>
            </a:pPr>
            <a:r>
              <a:rPr/>
              <a:t>1. 이 작업의 목적</a:t>
            </a:r>
            <a:endParaRPr lang="ko-KR" altLang="en-US"/>
          </a:p>
          <a:p>
            <a:pPr marL="0" indent="0">
              <a:buFontTx/>
              <a:buNone/>
              <a:defRPr sz="1500">
                <a:solidFill>
                  <a:srgbClr val="555555"/>
                </a:solidFill>
              </a:defRPr>
            </a:pPr>
            <a:r>
              <a:rPr/>
              <a:t>왜 변수조합을 통일해서 전원이 같이 테스트하는가</a:t>
            </a: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995" cy="268795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spcAft>
                <a:spcPts val="1400"/>
              </a:spcAft>
              <a:buFontTx/>
              <a:buNone/>
              <a:defRPr sz="2000" b="1">
                <a:solidFill>
                  <a:srgbClr val="222222"/>
                </a:solidFill>
              </a:defRPr>
            </a:pPr>
            <a:r>
              <a:rPr/>
              <a:t>담당 모델이 팀원마다 다름</a:t>
            </a:r>
            <a:endParaRPr lang="ko-KR" altLang="en-US"/>
          </a:p>
          <a:p>
            <a:pPr marL="0" indent="0" lvl="1">
              <a:spcAft>
                <a:spcPts val="1400"/>
              </a:spcAft>
              <a:buFontTx/>
              <a:buNone/>
              <a:defRPr sz="1700" b="0">
                <a:solidFill>
                  <a:srgbClr val="555555"/>
                </a:solidFill>
              </a:defRPr>
            </a:pPr>
            <a:r>
              <a:rPr/>
              <a:t>나겸 = XGBoost · 다영 = 랜덤포레스트 · 세진 = 로지스틱회귀 · 민정 = LightGBM</a:t>
            </a:r>
            <a:endParaRPr lang="ko-KR" altLang="en-US"/>
          </a:p>
          <a:p>
            <a:pPr marL="0" indent="0">
              <a:spcAft>
                <a:spcPts val="1400"/>
              </a:spcAft>
              <a:buFontTx/>
              <a:buNone/>
              <a:defRPr sz="2000" b="1">
                <a:solidFill>
                  <a:srgbClr val="222222"/>
                </a:solidFill>
              </a:defRPr>
            </a:pPr>
            <a:r>
              <a:rPr/>
              <a:t>공정한 비교를 하려면 변수가 같아야 함</a:t>
            </a:r>
            <a:endParaRPr lang="ko-KR" altLang="en-US"/>
          </a:p>
          <a:p>
            <a:pPr marL="0" indent="0" lvl="1">
              <a:spcAft>
                <a:spcPts val="1400"/>
              </a:spcAft>
              <a:buFontTx/>
              <a:buNone/>
              <a:defRPr sz="1700" b="0">
                <a:solidFill>
                  <a:srgbClr val="555555"/>
                </a:solidFill>
              </a:defRPr>
            </a:pPr>
            <a:r>
              <a:rPr/>
              <a:t>변수가 팀원마다 다르면, 성능 차이가 “모델 때문”인지 “변수를 잘 골라서”인지 구분이 안 됨</a:t>
            </a:r>
            <a:endParaRPr lang="ko-KR" altLang="en-US"/>
          </a:p>
          <a:p>
            <a:pPr marL="0" indent="0">
              <a:spcAft>
                <a:spcPts val="1400"/>
              </a:spcAft>
              <a:buFontTx/>
              <a:buNone/>
              <a:defRPr sz="2000" b="1">
                <a:solidFill>
                  <a:srgbClr val="222222"/>
                </a:solidFill>
              </a:defRPr>
            </a:pPr>
            <a:r>
              <a:rPr/>
              <a:t>그래서 동일한 변수조합</a:t>
            </a:r>
            <a:r>
              <a:rPr/>
              <a:t>을</a:t>
            </a:r>
            <a:r>
              <a:rPr/>
              <a:t> 전원이 자기 모델로 전부 돌려봄</a:t>
            </a:r>
            <a:endParaRPr lang="ko-KR" altLang="en-US"/>
          </a:p>
          <a:p>
            <a:pPr marL="0" indent="0" lvl="1">
              <a:spcAft>
                <a:spcPts val="1400"/>
              </a:spcAft>
              <a:buFontTx/>
              <a:buNone/>
              <a:defRPr sz="1700" b="0">
                <a:solidFill>
                  <a:srgbClr val="555555"/>
                </a:solidFill>
              </a:defRPr>
            </a:pPr>
            <a:r>
              <a:rPr/>
              <a:t>결과를 “조합별 비교”와 “모델별 비교” 두 축으로 모두 볼 수 있게 설계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2. 먼저 확인할 것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변수조합을 정하기 전에, 데이터셋 자체에서 발견한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B83A2E"/>
                </a:solidFill>
              </a:defRPr>
            </a:pPr>
            <a:r>
              <a:t>final_train_code.ipynb에서 is_online 컬럼이 삭제되어 있음</a:t>
            </a:r>
          </a:p>
          <a:p>
            <a:pPr>
              <a:spcAft>
                <a:spcPts val="1200"/>
              </a:spcAft>
              <a:defRPr sz="1900" b="1">
                <a:solidFill>
                  <a:srgbClr val="222222"/>
                </a:solidFill>
              </a:defRPr>
            </a:pPr>
            <a:r>
              <a:t>is_online (온라인/오프라인 거래 여부)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민정님이 로지스틱회귀로 검증: 오즈비 2.89 (온라인이 오프라인보다 사기 위험 2.89배)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p ≈ 3.7e-98 — 팀 전체에서 가장 강력한 신호 중 하나</a:t>
            </a:r>
          </a:p>
          <a:p>
            <a:pPr>
              <a:spcAft>
                <a:spcPts val="1200"/>
              </a:spcAft>
              <a:defRPr sz="1900" b="1">
                <a:solidFill>
                  <a:srgbClr val="222222"/>
                </a:solidFill>
              </a:defRPr>
            </a:pPr>
            <a:r>
              <a:t>계산 자체는 간단함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category.str.endswith('_net') 한 줄로 복원 가능</a:t>
            </a:r>
          </a:p>
          <a:p>
            <a:pPr>
              <a:spcAft>
                <a:spcPts val="1200"/>
              </a:spcAft>
              <a:defRPr sz="1900" b="1">
                <a:solidFill>
                  <a:srgbClr val="2E5BB8"/>
                </a:solidFill>
              </a:defRPr>
            </a:pPr>
            <a:r>
              <a:t>→ 변수조합 확정 전에 나겸님께 복원 요청 필요 (아래 조합1, 4, 5에 포함되어 있음)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3. 팀 전체 가설 · 변수 종합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누가 어떤 가설을, 어떤 변수로, 어떤 근거로 검증했는가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29365" cy="6703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770"/>
                <a:gridCol w="2259330"/>
                <a:gridCol w="2790825"/>
                <a:gridCol w="3056890"/>
                <a:gridCol w="1860550"/>
              </a:tblGrid>
              <a:tr h="49403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1">
                          <a:solidFill>
                            <a:schemeClr val="lt1"/>
                          </a:solidFill>
                        </a:rPr>
                        <a:t>담당</a:t>
                      </a:r>
                      <a:endParaRPr lang="ko-KR" altLang="en-US" kern="1200" i="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1">
                          <a:solidFill>
                            <a:schemeClr val="lt1"/>
                          </a:solidFill>
                        </a:rPr>
                        <a:t>가설</a:t>
                      </a:r>
                      <a:endParaRPr lang="ko-KR" altLang="en-US" kern="1200" i="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1">
                          <a:solidFill>
                            <a:schemeClr val="lt1"/>
                          </a:solidFill>
                        </a:rPr>
                        <a:t>핵심 변수</a:t>
                      </a:r>
                      <a:endParaRPr lang="ko-KR" altLang="en-US" kern="1200" i="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1">
                          <a:solidFill>
                            <a:schemeClr val="lt1"/>
                          </a:solidFill>
                        </a:rPr>
                        <a:t>통계적 근거</a:t>
                      </a:r>
                      <a:endParaRPr lang="ko-KR" altLang="en-US" kern="1200" i="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1">
                          <a:solidFill>
                            <a:schemeClr val="lt1"/>
                          </a:solidFill>
                        </a:rPr>
                        <a:t>최종 데이터셋</a:t>
                      </a:r>
                      <a:endParaRPr lang="ko-KR" altLang="en-US" kern="1200" i="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2E5BB8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다영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고액 반복결제(몰아쓰기)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recent_24h_high_amt_count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상관 0.46, 검정력 100%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최강 단일변수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있음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다영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업종별 동적 사기율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category_recent_fraud_rate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단독 약하나 유의(p≈0)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있음(+missing)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다영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거리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distance_km_2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완전 무관 (p=0.693)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→ 제외 확정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원래 없음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  <a:tr h="119888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다영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속도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speed_2 / high_speed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연속 상호작용 비유의(p=0.487)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구간화 상호작용 유의(p≈8.1e-17)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있음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민정(가설1)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주 활동시간 이탈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outside_active_hours_80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오즈비 1.70, 유의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없음(계산 복잡)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민정(가설2)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평소 소액고객의 고액거래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low_spend_customer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오즈비 1.53, 유의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없음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민정(가설3)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온라인 vs 오프라인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is_online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오즈비 2.89, 매우 강함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삭제됨(복원 필요)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나겸(비공식)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연속결제/속도 구간효과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count_30min, speed_kmh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1회 0.45%→5회 26%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거의 단조 증가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있음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세진(비공식)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평소 대비 이례적 소비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amt_ratio_to_mean(≈zscore)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사기 평균 6.91배 vs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정상 0.97배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있음(zscore버전)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4. 신규 추가 변수 제안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실제 데이터로 확인해보니 강력하고, 만들기도 쉬운 변수 2가지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2E5BB8"/>
                </a:solidFill>
              </a:defRPr>
            </a:pPr>
            <a:r>
              <a:t>① risk_time_22_04</a:t>
            </a:r>
          </a:p>
          <a:p>
            <a:pPr lvl="1">
              <a:spcAft>
                <a:spcPts val="1400"/>
              </a:spcAft>
              <a:defRPr sz="1600" b="0">
                <a:solidFill>
                  <a:srgbClr val="555555"/>
                </a:solidFill>
              </a:defRPr>
            </a:pPr>
            <a:r>
              <a:t>정의: trans_hour.isin([22,23,0,1,2,3]) — 한 줄 코드</a:t>
            </a:r>
          </a:p>
          <a:p>
            <a:pPr lvl="1">
              <a:spcAft>
                <a:spcPts val="1400"/>
              </a:spcAft>
              <a:defRPr sz="1600" b="0">
                <a:solidFill>
                  <a:srgbClr val="555555"/>
                </a:solidFill>
              </a:defRPr>
            </a:pPr>
            <a:r>
              <a:t>사기율 0.11% → 2.08% (약 18배 차이)  ·  민정 가설1(주 활동시간)의 간단 버전</a:t>
            </a:r>
          </a:p>
          <a:p>
            <a:pPr>
              <a:spcAft>
                <a:spcPts val="1400"/>
              </a:spcAft>
              <a:defRPr sz="1900" b="1">
                <a:solidFill>
                  <a:srgbClr val="2E5BB8"/>
                </a:solidFill>
              </a:defRPr>
            </a:pPr>
            <a:r>
              <a:t>② interact_repeat_category (상호작용항)</a:t>
            </a:r>
          </a:p>
          <a:p>
            <a:pPr lvl="1">
              <a:spcAft>
                <a:spcPts val="1400"/>
              </a:spcAft>
              <a:defRPr sz="1600" b="0">
                <a:solidFill>
                  <a:srgbClr val="555555"/>
                </a:solidFill>
              </a:defRPr>
            </a:pPr>
            <a:r>
              <a:t>정의: recent_24h_high_amt_count × category_recent_fraud_rate</a:t>
            </a:r>
          </a:p>
          <a:p>
            <a:pPr lvl="1">
              <a:spcAft>
                <a:spcPts val="1400"/>
              </a:spcAft>
              <a:defRPr sz="1600" b="0">
                <a:solidFill>
                  <a:srgbClr val="555555"/>
                </a:solidFill>
              </a:defRPr>
            </a:pPr>
            <a:r>
              <a:t>다영 본인 통계검정(우도비검정)에서 유의함을 이미 확인 (p≈0)</a:t>
            </a:r>
          </a:p>
          <a:p>
            <a:pPr lvl="1">
              <a:spcAft>
                <a:spcPts val="1400"/>
              </a:spcAft>
              <a:defRPr sz="1600" b="0">
                <a:solidFill>
                  <a:srgbClr val="B83A2E"/>
                </a:solidFill>
              </a:defRPr>
            </a:pPr>
            <a:r>
              <a:t>주의: recent_24h_high_amt_count와 상관계수 0.70 → 같은 조합에 함께 넣지 말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5. 다중공선성 체크 결과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실제 train_80 데이터로 재계산한 상관계수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3075" y="1463040"/>
          <a:ext cx="10773410" cy="262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7915"/>
                <a:gridCol w="1151890"/>
                <a:gridCol w="4713605"/>
              </a:tblGrid>
              <a:tr h="39624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1">
                          <a:solidFill>
                            <a:schemeClr val="lt1"/>
                          </a:solidFill>
                        </a:rPr>
                        <a:t>변수 쌍</a:t>
                      </a:r>
                      <a:endParaRPr lang="ko-KR" altLang="en-US" kern="1200" i="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1">
                          <a:solidFill>
                            <a:schemeClr val="lt1"/>
                          </a:solidFill>
                        </a:rPr>
                        <a:t>상관계수</a:t>
                      </a:r>
                      <a:endParaRPr lang="ko-KR" altLang="en-US" kern="1200" i="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1">
                          <a:solidFill>
                            <a:schemeClr val="lt1"/>
                          </a:solidFill>
                        </a:rPr>
                        <a:t>판단</a:t>
                      </a:r>
                      <a:endParaRPr lang="ko-KR" altLang="en-US" kern="1200" i="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2E5BB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is_online ↔ count_30min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-0.82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매우 높음 — 같은 조합에 넣지 말 것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speed_kmh ↔ high_speed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1.00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완전 동일 — 반드시 하나만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amt ↔ amt_ratio_to_mean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0.92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매우 높음 — amt_zscore_card로 대체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recent_24h_high_amt_count ↔ interact_repeat_category</a:t>
                      </a: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새로 제안)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0.70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높음 — 같이 쓰지 말 것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2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is_online</a:t>
                      </a: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kern="1200" i="0" b="0">
                          <a:solidFill>
                            <a:schemeClr val="dk1"/>
                          </a:solidFill>
                        </a:rPr>
                        <a:t>복구)</a:t>
                      </a: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 ↔ category_recent_fraud_rate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0.50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1">
                        <a:buFontTx/>
                        <a:buNone/>
                      </a:pPr>
                      <a:r>
                        <a:rPr kern="1200" i="0" b="0">
                          <a:solidFill>
                            <a:schemeClr val="dk1"/>
                          </a:solidFill>
                        </a:rPr>
                        <a:t>보통 — 팀 기준(0.7) 미달, 참고만</a:t>
                      </a:r>
                      <a:endParaRPr lang="ko-KR" altLang="en-US" kern="1200" i="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114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B83A2E"/>
                </a:solidFill>
              </a:defRPr>
            </a:pPr>
            <a:r>
              <a:t>왜 is_online ↔ count_30min이 -0.82까지 나왔나?</a:t>
            </a:r>
          </a:p>
          <a:p>
            <a:pPr>
              <a:spcBef>
                <a:spcPts val="800"/>
              </a:spcBef>
              <a:defRPr sz="1500">
                <a:solidFill>
                  <a:srgbClr val="555555"/>
                </a:solidFill>
              </a:defRPr>
            </a:pPr>
            <a:r>
              <a:t>count_30min · speed_kmh · Repeat3 · high_speed · speed_2는 전부 온라인 거래에서 0으로 채워져 있음. 즉 이 “0”이 “안전”이 아니라 “온라인이라 값 자체가 없음”을 뜻하는 경우가 섞여 있어서, is_online과 함께 쓰면 사실상 같은 정보를 중복해서 넣는 셈이 됨.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875" cy="78422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  <a:defRPr sz="3000" b="1">
                <a:solidFill>
                  <a:srgbClr val="222222"/>
                </a:solidFill>
              </a:defRPr>
            </a:pPr>
            <a:r>
              <a:rPr/>
              <a:t>6. 최종 변수조합 — 조합1</a:t>
            </a:r>
            <a:endParaRPr lang="ko-KR" altLang="en-US"/>
          </a:p>
          <a:p>
            <a:pPr marL="0" indent="0">
              <a:buFontTx/>
              <a:buNone/>
              <a:defRPr sz="1500">
                <a:solidFill>
                  <a:srgbClr val="555555"/>
                </a:solidFill>
              </a:defRPr>
            </a:pPr>
            <a:r>
              <a:rPr/>
              <a:t>최강 단일신호 (베이스라인)</a:t>
            </a: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E5BB8"/>
                </a:solidFill>
              </a:defRPr>
            </a:pPr>
            <a:r>
              <a:t>변수: recent_24h_high_amt_count, is_online(복원 후), amt, category_recent_fraud_rate(+_missing)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선정 근거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각 팀원 분석에서 “단독으로 가장 강력하다”고 확인된 신호만 모음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상관관계 대부분 0.1 이하로 안전 (is_online↔category_recent_fraud_rate만 0.50, 참고 수준)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“이 조합보다 성능이 안 나오면 뭔가 잘못된 것”이라는 기준점(베이스라인) 역할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6. 최종 변수조합 — 조합2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몰아쓰기 × 속도, 임계값(binned) 버전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E5BB8"/>
                </a:solidFill>
              </a:defRPr>
            </a:pPr>
            <a:r>
              <a:t>변수: recent_24h_high_amt_count, Repeat3, high_speed, amt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선정 근거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다영 가설2 통계검정: 연속형(speed_2×count_30min) 상호작용은 비유의 (Wald 검정 p=0.487)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반면 구간화(임계값) 버전의 상호작용은 뚜렷이 유의 (우도비검정 LRT p≈8.1e-17)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→ 통계적으로 더 근거 있는 임계값 버전(Repeat3=30분 내 3회↑, high_speed=100km/h↑)을 채택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6. 최종 변수조합 — 조합3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평소 패턴 대비 이상치 + 업종위험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E5BB8"/>
                </a:solidFill>
              </a:defRPr>
            </a:pPr>
            <a:r>
              <a:t>변수: amt_zscore_card, customer_mean_amt, customer_transaction_count, category_recent_fraud_rate(+_missing)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선정 근거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세진 EDA 핵심 발견: 사기거래는 카드 평소 평균 대비 6.91배(정상 0.97배)로 이례적인 금액대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amt_ratio_to_mean 대신 amt_zscore_card 사용 — VIF가 훨씬 낮음(1.6 vs 9.8)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다영 가설3(업종별 동적 사기율)을 결합해 “개인화된 이상치 + 업종 위험” 관점 구성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6. 최종 변수조합 — 조합4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시간대 위험 + 온라인채널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E5BB8"/>
                </a:solidFill>
              </a:defRPr>
            </a:pPr>
            <a:r>
              <a:t>변수: is_online(복원 후), risk_time_22_04(신규), recent_24h_high_amt_count, amt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선정 근거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민정 가설1(주 활동시간 이탈, 오즈비 1.70)과 가설3(온라인/오프라인, 오즈비 2.89)을 반영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상관관계 전부 0.05 이하로 매우 안전 — 다중공선성 걱정 없이 바로 사용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6. 최종 변수조합 — (옵션) 조합5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압축 상호작용 실험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E5BB8"/>
                </a:solidFill>
              </a:defRPr>
            </a:pPr>
            <a:r>
              <a:t>변수: interact_repeat_category(신규), amt, is_online, customer_transaction_count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선정 근거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원본 두 변수(recent_24h_high_amt_count, category_recent_fraud_rate) 대신 상호작용항 하나로 압축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압축된 신호 하나만으로 충분한 성능이 나오는지 실험 — 필수는 아니고 시간 남으면 시도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</a:defRPr>
            </a:pPr>
            <a:r>
              <a:t>7. 다음 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B83A2E"/>
                </a:solidFill>
              </a:defRPr>
            </a:pPr>
            <a:r>
              <a:t>① 나겸님께 is_online 복원 요청 (필수, 선행 작업)</a:t>
            </a:r>
          </a:p>
          <a:p>
            <a:pPr>
              <a:spcAft>
                <a:spcPts val="1300"/>
              </a:spcAft>
              <a:defRPr sz="1900" b="1">
                <a:solidFill>
                  <a:srgbClr val="222222"/>
                </a:solidFill>
              </a:defRPr>
            </a:pPr>
            <a:r>
              <a:t>② risk_time_22_04 추가 반영 (간단, 권장)</a:t>
            </a:r>
          </a:p>
          <a:p>
            <a:pPr>
              <a:spcAft>
                <a:spcPts val="1300"/>
              </a:spcAft>
              <a:defRPr sz="1900" b="1">
                <a:solidFill>
                  <a:srgbClr val="222222"/>
                </a:solidFill>
              </a:defRPr>
            </a:pPr>
            <a:r>
              <a:t>③ 4명이 각자 담당 모델로 조합1~4 전부 실행 (조합5는 옵션)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나겸=XGBoost · 다영=랜덤포레스트 · 세진=로지스틱회귀 · 민정=LightGBM</a:t>
            </a:r>
          </a:p>
          <a:p>
            <a:pPr>
              <a:spcAft>
                <a:spcPts val="1300"/>
              </a:spcAft>
              <a:defRPr sz="1900" b="1">
                <a:solidFill>
                  <a:srgbClr val="222222"/>
                </a:solidFill>
              </a:defRPr>
            </a:pPr>
            <a:r>
              <a:t>④ 결과 비교표 작성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“조합별” 비교 (같은 모델, 다른 조합 4~5개)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“모델별” 비교 (같은 조합, 다른 모델 4개)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재현율 · 오탐률(FPR) · ROC-AUC 기준으로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FDS 프로젝트 · 변수조합 설계안 · 다영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13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정다영</cp:lastModifiedBy>
  <cp:version>11.115.227.56384</cp:version>
  <dcterms:modified xsi:type="dcterms:W3CDTF">2013-01-27T09:15:58Z</dcterms:modified>
</cp:coreProperties>
</file>