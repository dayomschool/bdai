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최선의 K에서 사기율 Spread(배)</c:v>
                </c:pt>
              </c:strCache>
            </c:strRef>
          </c:tx>
          <c:spPr>
            <a:solidFill>
              <a:srgbClr val="8A98A8"/>
            </a:solidFill>
            <a:effectLst/>
          </c:spPr>
          <c:invertIfNegative val="0"/>
          <c:dLbls>
            <c:numFmt formatCode="0.0&quot;배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B86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Medium
단독</c:v>
                  </c:pt>
                  <c:pt idx="1">
                    <c:v>High
단독</c:v>
                  </c:pt>
                  <c:pt idx="2">
                    <c:v>Critical
단독</c:v>
                  </c:pt>
                  <c:pt idx="3">
                    <c:v>Medium+High+Critical
통합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2.9</c:v>
                </c:pt>
                <c:pt idx="2">
                  <c:v>1.1</c:v>
                </c:pt>
                <c:pt idx="3">
                  <c:v>9.3</c:v>
                </c:pt>
              </c:numCache>
            </c:numRef>
          </c:val>
        </c:ser>
        <c:dLbls>
          <c:numFmt formatCode="0.0&quot;배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B3444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2B34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2468880" cy="109728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0" y="1417320"/>
            <a:ext cx="2468880" cy="10972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417320"/>
            <a:ext cx="2468880" cy="109728"/>
          </a:xfrm>
          <a:prstGeom prst="rect">
            <a:avLst/>
          </a:prstGeom>
          <a:solidFill>
            <a:srgbClr val="E2792E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1417320"/>
            <a:ext cx="2468880" cy="10972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FDS  ·  트랙A 실시간 대응 파이프라인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위험등급 분류 설계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확률을 4단계로 나누고, K-means로 유형까지 분류하는 실시간 대응 체계 — 데이터로 검증한 설계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Low·Medium·High·Critical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4480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648,338건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5029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검증 표본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4480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45개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5029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파라미터 조합 실험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4480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유형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0" y="5029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통합 군집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다영  ·  위험등급 분류 설계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다루는 범위 — 트랙A의 첫 관문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FDS 대응체계는 두 트랙으로 설계됨: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트랙A — 실시간 운영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거래 → LightGBM(조합3) 확률 → 1차 위험등급 → 등급별 대응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846320" cy="2377440"/>
          </a:xfrm>
          <a:prstGeom prst="roundRect">
            <a:avLst>
              <a:gd name="adj" fmla="val 2308"/>
            </a:avLst>
          </a:prstGeom>
          <a:solidFill>
            <a:srgbClr val="2B3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461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이 발표의 범위: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확률을 몇 단계로, 어떤 기준으로 나눌지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각 등급을 비지도학습(K-means/DBSCAN)에 보낼지 말지, 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트랙B — 오프라인 사후분석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데이터(정답 앎) → LightGBM 예측 vs 실제 비교 → FP/FN 원인 분석 → 트랙A 개선에 피드백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(오늘 다루지 않음 — 별도 진행)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확률분포 확인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그냥 등분하면 안 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LightGBM(조합3) OOF 예측확률(648,338건)을 정상거래/사기거래로 나눠서 백분위수 확인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82296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정상거래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0.027493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82296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사기거래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0.016665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6118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B2430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모델이 극단적으로 확신에 차 있다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22960" y="4251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정상거래: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가운데(50%)에 있는 정상거래조차 확률 0.000003 — 거의 0. 99%가 0.03도 안 됨.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사기거래: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5%만 지나도 확률 0.81 이상, 절반은 0.9999 — 대부분 확신에 가득 찬 값.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정상/사기가 극단적으로 분리돼 있어서, 0~1을 기계적으로 4등분하면 첫 칸에 거의 다 몰리고 나머지는 텅 빔.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THRESHOLD 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경계값 후보 — 임계값마다 실제로 뭐가 달라지나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280160"/>
                <a:gridCol w="1188720"/>
                <a:gridCol w="5303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임계값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해당건수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여기부터 '뭔가 이상하다' 신호 시작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급등 구간이 끝나는 지점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0.9289 (공식)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팀이 이미 '사기'로 확정하는 기준선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확실하지만 Recall 희생 시작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3개 지점(0.01 / 0.50 / 0.9289)이 4단계 경계 후보가 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숫자나 등분한 게 아니라, 각 경계선마다 '여기서 뭔가 실제로 달라진다'는 근거가 있음 — 0.01은 신호 시작점, 0.50은 Precision 급등이 끝나는 지점, 0.9289는 팀이 이미 F1 최적화로 확정한 공식 임계값(threshold).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결과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 확정 — 계단식으로 사기율이 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24328" cy="411480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624328" cy="68580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확률구간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~ 0.01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거래건수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633,784건 (97.8%)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0448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9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0.0047%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258568" cy="548640"/>
          </a:xfrm>
          <a:prstGeom prst="roundRect">
            <a:avLst>
              <a:gd name="adj" fmla="val 50000"/>
            </a:avLst>
          </a:prstGeom>
          <a:solidFill>
            <a:srgbClr val="4F9D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전체평균 대비 0배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0128" y="1280160"/>
            <a:ext cx="2624328" cy="411480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280160"/>
            <a:ext cx="2624328" cy="68580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2801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493008" y="214884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확률구간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239572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~ 0.50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93008" y="28803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거래건수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31272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10,064건 (1.55%)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93008" y="36576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390448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0.9241%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493008" y="4572000"/>
            <a:ext cx="2258568" cy="548640"/>
          </a:xfrm>
          <a:prstGeom prst="roundRect">
            <a:avLst>
              <a:gd name="adj" fmla="val 50000"/>
            </a:avLst>
          </a:prstGeom>
          <a:solidFill>
            <a:srgbClr val="E8B339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457200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전체평균 대비 1.6배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71616" y="1280160"/>
            <a:ext cx="2624328" cy="411480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71616" y="1280160"/>
            <a:ext cx="2624328" cy="685800"/>
          </a:xfrm>
          <a:prstGeom prst="rect">
            <a:avLst/>
          </a:prstGeom>
          <a:solidFill>
            <a:srgbClr val="E2792E"/>
          </a:solidFill>
          <a:ln/>
        </p:spPr>
      </p:sp>
      <p:sp>
        <p:nvSpPr>
          <p:cNvPr id="28" name="Text 26"/>
          <p:cNvSpPr/>
          <p:nvPr/>
        </p:nvSpPr>
        <p:spPr>
          <a:xfrm>
            <a:off x="6071616" y="12801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254496" y="214884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확률구간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239572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~ 0.9289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54496" y="28803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거래건수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31272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895건 (0.14%)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36576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390448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13.6313%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254496" y="4572000"/>
            <a:ext cx="2258568" cy="548640"/>
          </a:xfrm>
          <a:prstGeom prst="roundRect">
            <a:avLst>
              <a:gd name="adj" fmla="val 50000"/>
            </a:avLst>
          </a:prstGeom>
          <a:solidFill>
            <a:srgbClr val="E2792E"/>
          </a:solidFill>
          <a:ln/>
        </p:spPr>
      </p:sp>
      <p:sp>
        <p:nvSpPr>
          <p:cNvPr id="36" name="Text 34"/>
          <p:cNvSpPr/>
          <p:nvPr/>
        </p:nvSpPr>
        <p:spPr>
          <a:xfrm>
            <a:off x="6254496" y="457200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전체평균 대비 24배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33104" y="1280160"/>
            <a:ext cx="2624328" cy="411480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38" name="Shape 36"/>
          <p:cNvSpPr/>
          <p:nvPr/>
        </p:nvSpPr>
        <p:spPr>
          <a:xfrm>
            <a:off x="8833104" y="1280160"/>
            <a:ext cx="2624328" cy="68580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9" name="Text 37"/>
          <p:cNvSpPr/>
          <p:nvPr/>
        </p:nvSpPr>
        <p:spPr>
          <a:xfrm>
            <a:off x="8833104" y="12801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015984" y="214884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확률구간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15984" y="239572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0.9289 ~ 1.0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15984" y="28803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거래건수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15984" y="31272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3,595건 (0.55%)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15984" y="36576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15984" y="390448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95.5216%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9015984" y="4572000"/>
            <a:ext cx="2258568" cy="54864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47" name="Text 45"/>
          <p:cNvSpPr/>
          <p:nvPr/>
        </p:nvSpPr>
        <p:spPr>
          <a:xfrm>
            <a:off x="9015984" y="457200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전체평균 대비 168배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평균 사기율 0.58% 기준 — 등급이 오를 때마다 사기율이 0.005% → 0.92% → 13.6% → 95.5%로 뚜렷하게 계단식 증가. Critical 등급 하나(전체의 0.55%)가 전체 사기 3,679건 중 3,434건(93.3%)을 담고 있음.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검토했던 대안 · 5단계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5단계(투자성향 모티브)도 검토했음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증권사 5단계 투자성향 분류(안정형~공격투자형)를 본떠, Low를 한 번 더 쪼개는 안도 실험함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9260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확률구간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건수(비율)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안정형(매우낮음)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~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611,858건 (94.37%)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안정추구형(낮음)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~ 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21,926건 (3.38%)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위험중립형(중간)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~ 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10,064건 (1.55%)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적극투자형(높음)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~ 0.9289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895건 (0.14%)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13.6313%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공격투자형(매우높음)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0.9289 ~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3,595건 (0.55%)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95.5216%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Low를 쪼갠 것도 의미가 있었음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안정형(0.0015%) vs 안정추구형(0.0958%) — 약 64배 차이가 나서 임의로 반 자른 게 아니라 실제로 다른 위험도 그룹. 다만 이 구분을 만든 실질적 '이유'는 다음 슬라이드에서 결정된 라우팅 방식에 따라 달라짐.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라우팅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등급마다, 비지도학습을 적용할까?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아이디어: Low는 DBSCAN으로 '혹시 놓친 사기 없나' 안전망 체크, High/Critical은 K-means로 '어떤 유형의 의심스러운 거래인가' 세분화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2B344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안전망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LightGBM이 '정상'이라 했는데, 진짜 정상 패턴에 속하나? 낯선 모양이라 놓친 건 아닌가?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2B3444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920240"/>
            <a:ext cx="5394960" cy="64008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세분화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의심스럽다고 나온 거래, 어떤 종류의 의심인가? 대응을 다르게 하기 위한 유형 분류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B8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그냥 믿지 말고, 각 등급에 실제로 돌려서 — 정말 숨은 사기를 잡아내는지(DBSCAN), 정말 유형이 갈리는지(K-means) — 데이터로 검증하기로 함.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DBSCAN 검증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안전망 — 숨은 사기를 잡아내나?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방법: Noise로 찍힌 거래의 사기율이 그 등급 전체 평균보다 얼마나 높은지(Lift), 실제로 사기를 몇 건 잡아내는지(포착률)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2011680"/>
                <a:gridCol w="15544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Noise비율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잡은 사기 / 전체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(4단계 전체)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633,784건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1건 / 30건 (3%)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안정형 (5단계)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611,858건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0건 / 9건 (0%)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안정추구형 (5단계)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21,926건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2건 / 21건 (10%)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(참고)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10,064건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9건 / 93건 (10%)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안정형(전체의 94.4%)에 돌린 DBSCAN은 완전히 허탕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Noise로 찍힌 8,276건 중 사기가 단 한 건도 없음(Lift=0.0배). Low 전체로 봐도 30건 중 1건(3%)만 잡음. Noise로 찍힌 것 대부분이 사실 사기가 아니라 그냥 통계적으로 드문 '특이한 정상거래'로 보임 — 지난 군집분석에서 DBSCAN 피처가 LightGBM 성능을 오히려 깎았던 것과 같은 맥락.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DBSCAN 검증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파라미터 45개 조합을 다 돌려봐도 마찬가지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eps=0.5가 너무 느슨했나 싶어, eps 5개(0.1~0.4) × min_samples 3개(5/10/20) = 15조합 × 3개 대상(안정형/안정추구형/Low) = 45회 그리드서치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— Noise비율도 같이 봐야 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eps를 작게 하면 포착률(catch%)은 올라가지만, 동시에 Noise비율도 같이 폭등함.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안정형 eps=0.1, min_samples=20 → 사기 9건 중 7건(77.8%) 포착했지만, 그 대가로 전체 거래의 62.9%를 Noise로 찍어버림.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'안전 등급'의 63%가 다시 의심스럽다고 하면, 애초에 등급을 나눈 목적(대량 자동승인)이 무너짐.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봐야 할 지표: Lift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Noise비율을 적게 유지하면서 Lift(사기 농도)가 크게 나오는 조합이 있어야 실전에서 쓸모있음.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 조합 중 최고 Lift: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Low, eps=0.4, min_samples=10 → Lift 3.6배 (그런데 30건 중 겨우 3건 포착)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45개 조합 어디에도 'Noise 적게, Lift 크게'의 조합은 없었음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86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DBSCAN 안전망은 근거 부족 — 제외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K-MEANS 검증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개별로 나누기 vs 합쳐서 나누기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방법: 각 대상에 K-means(K=2~4)를 돌려서, 군집별 사기율 최대/최소 비율(Spread)이 얼마나 벌어지는지 확인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55448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B243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통합했을 때의 Spread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(개별 대비 3~9배 더 큼)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3520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Critical은 단독으로 나누면 87~98%대로 다 비슷하게 높아서 세분화 의미가 거의 없음(Spread 1.1배). 반면 Medium~Critical을 합치면 5%~50%까지 스펙트럼이 훨씬 선명하게 갈림.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F4B86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K-means는 통합해서 K=4로 채택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K-MEANS 검증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유형에 이름을 붙이다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24328" cy="420624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624328" cy="86868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한탕고액형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970원 · 오후4시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+7.22(극단)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3016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49.51%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3,373건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0128" y="1280160"/>
            <a:ext cx="2624328" cy="420624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0128" y="1280160"/>
            <a:ext cx="2624328" cy="868680"/>
          </a:xfrm>
          <a:prstGeom prst="rect">
            <a:avLst/>
          </a:prstGeom>
          <a:solidFill>
            <a:srgbClr val="E279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280160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몰아쓰기형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93008" y="233172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93008" y="257860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277원 · 낮2시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+1.47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93008" y="33832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363016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35.07%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93008" y="42519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44988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3,721건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71616" y="1280160"/>
            <a:ext cx="2624328" cy="420624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71616" y="1280160"/>
            <a:ext cx="2624328" cy="86868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280160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새벽 소액테스트형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54496" y="233172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257860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15원 · 새벽4시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54496" y="33832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63016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24.77%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54496" y="42519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44988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1,425건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33104" y="1280160"/>
            <a:ext cx="2624328" cy="4206240"/>
          </a:xfrm>
          <a:prstGeom prst="roundRect">
            <a:avLst>
              <a:gd name="adj" fmla="val 2787"/>
            </a:avLst>
          </a:prstGeom>
          <a:solidFill>
            <a:srgbClr val="F4F6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833104" y="1280160"/>
            <a:ext cx="2624328" cy="86868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33" name="Text 31"/>
          <p:cNvSpPr/>
          <p:nvPr/>
        </p:nvSpPr>
        <p:spPr>
          <a:xfrm>
            <a:off x="8924544" y="1280160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소액 저녁형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15984" y="233172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15984" y="257860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21원 · 저녁8시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(상대적으로 안전)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15984" y="33832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15984" y="363016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9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5.32%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15984" y="425196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15984" y="449884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6,035건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Medium+High+Critical(4,490건) 통합 → K-means(K=4). 카드 도용 후 새벽에 소액으로 유효성 확인(새벽 소액테스트형), 확인되면 한 번에 크게 긁는(한탕고액형) 등 실제 사기 수법과 부합하는 유형이 도출됨.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K-MEANS 검증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등급과 유형은 서로 다른 정보 — 통합해도 안 겹침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걱정했던 지점: '등급별로 안 나누고 통합하면 세분화 능력을 잃는 거 아닌가?' → 교차표로 확인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286000"/>
                <a:gridCol w="2286000"/>
                <a:gridCol w="22860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 \ 유형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한탕고액형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몰아쓰기형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새벽소액테스트형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소액저녁형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D6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등급에 4개 유형이 다 섞여 있음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Critical 안에도 한탕고액형 1,686건과 몰아쓰기형 1,281건이 함께 있음 — 등급(LightGBM)과 유형(K-means)이 서로 독립적인 축이라는 뜻. 그래서 통합해도 정보가 사라지지 않고, 오히려 '등급 × 유형' 조합으로 더 정교한 대응 설계가 가능함(예: "Critical + 한탕고액형" → 즉시차단+사기팀알림, "Medium + 몰아쓰기형" → 재확인요청).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결정 3가지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4단계로 확정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5단계(안정형/안정추구형 분리)는 원래 DBSCAN 적용범위를 정하려던 목적이었는데, DBSCAN 자체를 제외하면서 분리 이유가 사라짐. 확률분포·PR곡선상 실질 경계가 뚜렷한 4단계로 확정.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DBSCAN 제외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eps/min_samples 45개 조합을 다 시도했지만, Noise비율을 적게 유지하면서 Lift가 크게 나오는 조합이 없었음. 안정형(94.4%)에서는 Lift 0.0배(사기 0건 포착) — 가장 극단적 반례.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K-means 통합 채택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25146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Medium+High+Critical을 합쳐 K=4로 돌리면 Spread 9.3배(개별 대비 3~9배↑). 실제 해석 가능한 4개 유형 도출, 등급과는 독립적 정보라 세분화 능력 보존됨.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확정 — 트랙A 1차 위험등급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4F9D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0~0.01  ·  97.8%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132588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46304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10128" y="210312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0.01~0.50  ·  1.55%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32588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E2792E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46304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71616" y="210312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0.50~0.9289  ·  0.14%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33104" y="132588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146304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33104" y="210312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0.9289~1.0  ·  0.55%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9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0128" y="27889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7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                            ↓                              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624328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441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승인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(비지도학습 없음)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10128" y="32461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1B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32461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+ High + Critical 통합 → K-means (K=4) 유형분류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10128" y="4343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7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10128" y="4800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D64550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4800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한탕고액형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58968" y="4800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2792E"/>
          </a:solidFill>
          <a:ln/>
        </p:spPr>
      </p:sp>
      <p:sp>
        <p:nvSpPr>
          <p:cNvPr id="26" name="Text 24"/>
          <p:cNvSpPr/>
          <p:nvPr/>
        </p:nvSpPr>
        <p:spPr>
          <a:xfrm>
            <a:off x="5458968" y="4800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몰아쓰기형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07808" y="4800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8B339"/>
          </a:solidFill>
          <a:ln/>
        </p:spPr>
      </p:sp>
      <p:sp>
        <p:nvSpPr>
          <p:cNvPr id="28" name="Text 26"/>
          <p:cNvSpPr/>
          <p:nvPr/>
        </p:nvSpPr>
        <p:spPr>
          <a:xfrm>
            <a:off x="7607808" y="4800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새벽소액테스트형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56648" y="4800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4F9D69"/>
          </a:solidFill>
          <a:ln/>
        </p:spPr>
      </p:sp>
      <p:sp>
        <p:nvSpPr>
          <p:cNvPr id="30" name="Text 28"/>
          <p:cNvSpPr/>
          <p:nvPr/>
        </p:nvSpPr>
        <p:spPr>
          <a:xfrm>
            <a:off x="9756648" y="4800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소액저녁형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등급 × 유형 조합으로 최종 대응(즉시차단 / OTP / 재확인요청 등) 설계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× 유형별 대응 확정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16가지 조합(4등급×4유형) 각각에 실제 대응 조치(즉시차단/OTP/보류확인/승인 등)를 팀과 논의해 확정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트랙B 연계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FP/FN 분석에서 나온 패턴을 이 등급·유형 체계에 어떻게 반영할지 설계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서빙 구현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모델을 실제 예측 파이프라인에 배포 — 신규 거래에 대해 K-means.predict()로 유형 부여하는 코드화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노트북: 위험등급분류/위험등급분류_다영.ipynb — DBSCAN 실험 전 과정 포함 보존(재검토 시 참고자료)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2026-08-18T11:20:24Z</dcterms:created>
  <dcterms:modified xsi:type="dcterms:W3CDTF">2026-08-18T11:20:24Z</dcterms:modified>
</cp:coreProperties>
</file>