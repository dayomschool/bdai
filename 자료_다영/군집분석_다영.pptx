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4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3D46"/>
                </a:solidFill>
                <a:latin typeface="Arial"/>
              </a:rPr>
              <a:t>Silhouette (높을수록 좋음)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(↑좋음)</c:v>
                </c:pt>
              </c:strCache>
            </c:strRef>
          </c:tx>
          <c:spPr>
            <a:solidFill>
              <a:srgbClr val="0B3D46"/>
            </a:solidFill>
            <a:ln w="31750" cap="flat">
              <a:solidFill>
                <a:srgbClr val="0B3D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B3D46"/>
              </a:solidFill>
              <a:ln w="9525" cap="flat">
                <a:solidFill>
                  <a:srgbClr val="0B3D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0.3207</c:v>
                </c:pt>
                <c:pt idx="1">
                  <c:v>0.3455</c:v>
                </c:pt>
                <c:pt idx="2">
                  <c:v>0.296</c:v>
                </c:pt>
                <c:pt idx="3">
                  <c:v>0.2939</c:v>
                </c:pt>
                <c:pt idx="4">
                  <c:v>0.3046</c:v>
                </c:pt>
                <c:pt idx="5">
                  <c:v>0.3003</c:v>
                </c:pt>
                <c:pt idx="6">
                  <c:v>0.319</c:v>
                </c:pt>
                <c:pt idx="7">
                  <c:v>0.3364</c:v>
                </c:pt>
                <c:pt idx="8">
                  <c:v>0.3401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D6455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D64550"/>
                </a:solidFill>
                <a:latin typeface="Arial"/>
              </a:rPr>
              <a:t>Davies-Bouldin (낮을수록 좋음)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Davies-Bouldin (↓좋음)</c:v>
                </c:pt>
              </c:strCache>
            </c:strRef>
          </c:tx>
          <c:spPr>
            <a:solidFill>
              <a:srgbClr val="D64550"/>
            </a:solidFill>
            <a:ln w="3175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1.2028</c:v>
                </c:pt>
                <c:pt idx="1">
                  <c:v>1.0408</c:v>
                </c:pt>
                <c:pt idx="2">
                  <c:v>1.1204</c:v>
                </c:pt>
                <c:pt idx="3">
                  <c:v>1.0807</c:v>
                </c:pt>
                <c:pt idx="4">
                  <c:v>1.0793</c:v>
                </c:pt>
                <c:pt idx="5">
                  <c:v>1.0745</c:v>
                </c:pt>
                <c:pt idx="6">
                  <c:v>1.0003</c:v>
                </c:pt>
                <c:pt idx="7">
                  <c:v>0.9935</c:v>
                </c:pt>
                <c:pt idx="8">
                  <c:v>1.0079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5C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5C66"/>
                </a:solidFill>
                <a:latin typeface="Arial"/>
              </a:rPr>
              <a:t>Calinski-Harabasz (높을수록 좋음, K=2 압도적)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Calinski-Harabasz (↑좋음)</c:v>
                </c:pt>
              </c:strCache>
            </c:strRef>
          </c:tx>
          <c:spPr>
            <a:solidFill>
              <a:srgbClr val="145C66"/>
            </a:solidFill>
            <a:ln w="31750" cap="flat">
              <a:solidFill>
                <a:srgbClr val="145C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5C66"/>
              </a:solidFill>
              <a:ln w="9525" cap="flat">
                <a:solidFill>
                  <a:srgbClr val="145C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48605</c:v>
                </c:pt>
                <c:pt idx="1">
                  <c:v>39964</c:v>
                </c:pt>
                <c:pt idx="2">
                  <c:v>39360</c:v>
                </c:pt>
                <c:pt idx="3">
                  <c:v>39323</c:v>
                </c:pt>
                <c:pt idx="4">
                  <c:v>37924</c:v>
                </c:pt>
                <c:pt idx="5">
                  <c:v>36580</c:v>
                </c:pt>
                <c:pt idx="6">
                  <c:v>35875</c:v>
                </c:pt>
                <c:pt idx="7">
                  <c:v>36080</c:v>
                </c:pt>
                <c:pt idx="8">
                  <c:v>35335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PR-AUC</c:v>
                </c:pt>
              </c:strCache>
            </c:strRef>
          </c:tx>
          <c:spPr>
            <a:solidFill>
              <a:srgbClr val="0B3D46"/>
            </a:solidFill>
            <a:effectLst/>
          </c:spPr>
          <c:invertIfNegative val="0"/>
          <c:dLbls>
            <c:numFmt formatCode="0.000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3D4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3D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
(조합3)</c:v>
                  </c:pt>
                  <c:pt idx="1">
                    <c:v>+ K-means
cluster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0.976837</c:v>
                </c:pt>
                <c:pt idx="1">
                  <c:v>0.976791</c:v>
                </c:pt>
              </c:numCache>
            </c:numRef>
          </c:val>
        </c:ser>
        <c:dLbls>
          <c:numFmt formatCode="0.000000" sourceLinked="0"/>
          <c:txPr>
            <a:bodyPr/>
            <a:lstStyle/>
            <a:p>
              <a:pPr>
                <a:defRPr b="1" i="0" strike="noStrike" sz="1400" u="none">
                  <a:solidFill>
                    <a:srgbClr val="0B3D4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79"/>
          <c:min val="0.973"/>
        </c:scaling>
        <c:delete val="0"/>
        <c:axPos val="b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PR-AUC</c:v>
                </c:pt>
              </c:strCache>
            </c:strRef>
          </c:tx>
          <c:spPr>
            <a:solidFill>
              <a:srgbClr val="0B3D46"/>
            </a:solidFill>
            <a:effectLst/>
          </c:spPr>
          <c:invertIfNegative val="0"/>
          <c:dLbls>
            <c:numFmt formatCode="0.000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3D4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3D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
(조합3)</c:v>
                  </c:pt>
                  <c:pt idx="1">
                    <c:v>+ DBSCAN
is_noise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0.976837</c:v>
                </c:pt>
                <c:pt idx="1">
                  <c:v>0.9758</c:v>
                </c:pt>
              </c:numCache>
            </c:numRef>
          </c:val>
        </c:ser>
        <c:dLbls>
          <c:numFmt formatCode="0.000000" sourceLinked="0"/>
          <c:txPr>
            <a:bodyPr/>
            <a:lstStyle/>
            <a:p>
              <a:pPr>
                <a:defRPr b="1" i="0" strike="noStrike" sz="1400" u="none">
                  <a:solidFill>
                    <a:srgbClr val="0B3D4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79"/>
          <c:min val="0.973"/>
        </c:scaling>
        <c:delete val="0"/>
        <c:axPos val="b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PR-AUC 차이 (Baseline 대비)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+0.000000;-0.000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3D4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8C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B8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is_noise
(이진 0/1)</c:v>
                  </c:pt>
                  <c:pt idx="1">
                    <c:v>cluster_id
(범주형)</c:v>
                  </c:pt>
                  <c:pt idx="2">
                    <c:v>dist_to_core
(연속형)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-0.001037</c:v>
                </c:pt>
                <c:pt idx="1">
                  <c:v>0.00002</c:v>
                </c:pt>
                <c:pt idx="2">
                  <c:v>0.000301</c:v>
                </c:pt>
              </c:numCache>
            </c:numRef>
          </c:val>
        </c:ser>
        <c:dLbls>
          <c:numFmt formatCode="+0.000000;-0.000000" sourceLinked="0"/>
          <c:txPr>
            <a:bodyPr/>
            <a:lstStyle/>
            <a:p>
              <a:pPr>
                <a:defRPr b="1" i="0" strike="noStrike" sz="1200" u="none">
                  <a:solidFill>
                    <a:srgbClr val="0B3D4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23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대비 OOF PR-AUC 차이</c:v>
                </c:pt>
              </c:strCache>
            </c:strRef>
          </c:tx>
          <c:spPr>
            <a:solidFill>
              <a:srgbClr val="F4B860"/>
            </a:solidFill>
            <a:effectLst/>
          </c:spPr>
          <c:invertIfNegative val="0"/>
          <c:dLbls>
            <c:numFmt formatCode="+0.000000;-0.00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23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B8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B8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B8C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3D4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①</c:v>
                  </c:pt>
                  <c:pt idx="1">
                    <c:v>②</c:v>
                  </c:pt>
                  <c:pt idx="2">
                    <c:v>③</c:v>
                  </c:pt>
                  <c:pt idx="3">
                    <c:v>④</c:v>
                  </c:pt>
                  <c:pt idx="4">
                    <c:v>⑤</c:v>
                  </c:pt>
                  <c:pt idx="5">
                    <c:v>⑥</c:v>
                  </c:pt>
                  <c:pt idx="6">
                    <c:v>⑦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0.000473</c:v>
                </c:pt>
                <c:pt idx="1">
                  <c:v>0.000301</c:v>
                </c:pt>
                <c:pt idx="2">
                  <c:v>0.00002</c:v>
                </c:pt>
                <c:pt idx="3">
                  <c:v>0</c:v>
                </c:pt>
                <c:pt idx="4">
                  <c:v>-0.000047</c:v>
                </c:pt>
                <c:pt idx="5">
                  <c:v>-0.000201</c:v>
                </c:pt>
                <c:pt idx="6">
                  <c:v>-0.001037</c:v>
                </c:pt>
              </c:numCache>
            </c:numRef>
          </c:val>
        </c:ser>
        <c:dLbls>
          <c:numFmt formatCode="+0.000000;-0.000000" sourceLinked="0"/>
          <c:txPr>
            <a:bodyPr/>
            <a:lstStyle/>
            <a:p>
              <a:pPr>
                <a:defRPr b="1" i="0" strike="noStrike" sz="1100" u="none">
                  <a:solidFill>
                    <a:srgbClr val="123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1" i="0" u="none" strike="noStrike">
                <a:solidFill>
                  <a:srgbClr val="123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145C6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5C66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2743200" cy="2743200"/>
          </a:xfrm>
          <a:prstGeom prst="ellipse">
            <a:avLst/>
          </a:prstGeom>
          <a:solidFill>
            <a:srgbClr val="145C6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SIGNBRIDGE FDS  ·  비지도학습 탐색 분석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군집분석 (K-means · DBSCAN)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여부 없이 거래 행동만으로 유형을 찾고, LightGBM(최종모델)에 추가했을 때 실제로 도움이 되는지 검증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7개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변수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2가지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DBSCAN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3-Fold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시간순 확장형 검증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7개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77824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비교한 변형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다영  ·  군집분석 담당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사기 여부도 없이 분석하나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3F7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지도학습 (지금까지 한 것)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“과거에 정의된 사기 패턴(is_fraud)을 이용해서 사기를 예측한다”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LightGBM · RandomForest · Logistic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정답(is_fraud)을 보면서 학습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B3D46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비지도학습 (이번 분석)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057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“사기 여부를 알려주지 않은 상태에서 거래의 자연스러운 행동 패턴을 탐색한다”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“군집은 사람이 K를 정해줘”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“밀집한 곳을 찾고, 안 끼는 건 Noise로”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군집을 다 만든 → 그 다음에만 is_fraud 확인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6583680" cy="411480"/>
          </a:xfrm>
          <a:prstGeom prst="roundRect">
            <a:avLst>
              <a:gd name="adj" fmla="val 50000"/>
            </a:avLst>
          </a:prstGeom>
          <a:solidFill>
            <a:srgbClr val="F4B86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623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규칙: 군집 형성 단계에서는 is_fraud 절대 사용 금지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5개 핵심 질문을 따라가는 분석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39696" cy="3200400"/>
          </a:xfrm>
          <a:prstGeom prst="roundRect">
            <a:avLst>
              <a:gd name="adj" fmla="val 3419"/>
            </a:avLst>
          </a:prstGeom>
          <a:solidFill>
            <a:srgbClr val="F3F7F8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1737360"/>
            <a:ext cx="585216" cy="585216"/>
          </a:xfrm>
          <a:prstGeom prst="ellipse">
            <a:avLst/>
          </a:prstGeom>
          <a:solidFill>
            <a:srgbClr val="0B3D46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737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18653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몇 개 유형으로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나뉘는가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25496" y="1463040"/>
            <a:ext cx="2139696" cy="3200400"/>
          </a:xfrm>
          <a:prstGeom prst="roundRect">
            <a:avLst>
              <a:gd name="adj" fmla="val 3419"/>
            </a:avLst>
          </a:prstGeom>
          <a:solidFill>
            <a:srgbClr val="F3F7F8"/>
          </a:solidFill>
          <a:ln/>
        </p:spPr>
      </p:sp>
      <p:sp>
        <p:nvSpPr>
          <p:cNvPr id="9" name="Shape 7"/>
          <p:cNvSpPr/>
          <p:nvPr/>
        </p:nvSpPr>
        <p:spPr>
          <a:xfrm>
            <a:off x="3602736" y="1737360"/>
            <a:ext cx="585216" cy="585216"/>
          </a:xfrm>
          <a:prstGeom prst="ellipse">
            <a:avLst/>
          </a:prstGeom>
          <a:solidFill>
            <a:srgbClr val="0B3D46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1737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62656" y="2560320"/>
            <a:ext cx="18653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몰린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있는가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02352" y="1463040"/>
            <a:ext cx="2139696" cy="3200400"/>
          </a:xfrm>
          <a:prstGeom prst="roundRect">
            <a:avLst>
              <a:gd name="adj" fmla="val 3419"/>
            </a:avLst>
          </a:prstGeom>
          <a:solidFill>
            <a:srgbClr val="F3F7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879592" y="1737360"/>
            <a:ext cx="585216" cy="585216"/>
          </a:xfrm>
          <a:prstGeom prst="ellipse">
            <a:avLst/>
          </a:prstGeom>
          <a:solidFill>
            <a:srgbClr val="0B3D46"/>
          </a:solidFill>
          <a:ln/>
        </p:spPr>
      </p:sp>
      <p:sp>
        <p:nvSpPr>
          <p:cNvPr id="14" name="Text 12"/>
          <p:cNvSpPr/>
          <p:nvPr/>
        </p:nvSpPr>
        <p:spPr>
          <a:xfrm>
            <a:off x="5879592" y="1737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39512" y="2560320"/>
            <a:ext cx="18653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유형의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행동특성은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79208" y="1463040"/>
            <a:ext cx="2139696" cy="3200400"/>
          </a:xfrm>
          <a:prstGeom prst="roundRect">
            <a:avLst>
              <a:gd name="adj" fmla="val 3419"/>
            </a:avLst>
          </a:prstGeom>
          <a:solidFill>
            <a:srgbClr val="0B3D4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56448" y="1737360"/>
            <a:ext cx="585216" cy="585216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18" name="Text 16"/>
          <p:cNvSpPr/>
          <p:nvPr/>
        </p:nvSpPr>
        <p:spPr>
          <a:xfrm>
            <a:off x="8156448" y="1737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16368" y="2560320"/>
            <a:ext cx="18653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LightGBM에 추가하면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성능이 좋아지는가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56064" y="1463040"/>
            <a:ext cx="2139696" cy="3200400"/>
          </a:xfrm>
          <a:prstGeom prst="roundRect">
            <a:avLst>
              <a:gd name="adj" fmla="val 3419"/>
            </a:avLst>
          </a:prstGeom>
          <a:solidFill>
            <a:srgbClr val="F3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33304" y="1737360"/>
            <a:ext cx="585216" cy="585216"/>
          </a:xfrm>
          <a:prstGeom prst="ellipse">
            <a:avLst/>
          </a:prstGeom>
          <a:solidFill>
            <a:srgbClr val="0B3D46"/>
          </a:solidFill>
          <a:ln/>
        </p:spPr>
      </p:sp>
      <p:sp>
        <p:nvSpPr>
          <p:cNvPr id="22" name="Text 20"/>
          <p:cNvSpPr/>
          <p:nvPr/>
        </p:nvSpPr>
        <p:spPr>
          <a:xfrm>
            <a:off x="10433304" y="1737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93224" y="2560320"/>
            <a:ext cx="18653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정보를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훔쳐본 결과 아닌가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평가는 3단계로: A. 군집 품질(잘 나뉘었나) → B. Fraud relevance(사기와 관련 있나) → C. Predictive usefulness(LightGBM에 실제 도움 되나, 가장 중요)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B가 좋아도 C가 좋다는 보장은 없음 — 이미 LightGBM이 아는 정보를 재포장한 것이면 C는 도움이 안 됨. 이번 분석의 핵심 긴장점.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행동변수 7개 — 결측치·왜도 확인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1737360"/>
                <a:gridCol w="1645920"/>
                <a:gridCol w="256032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왜도(전)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왜도(로그변환 후)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 금액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trans_hour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 시간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-0.28 (변환안함)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recent_24h_high_amt_count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최근24h 고액거래횟수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amt_to_prior_median_ratio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평소대비 금액비율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1,649건(0.13%)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rolling_sum_amt_1h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최근1h 거래금액합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amt_zscore_card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카드기준 금액이상도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count_30min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최근30분 거래횟수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-0.07 (변환안함)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3F7F8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1663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왜도(skewness)란: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숫자가 클수록 '극소수 극단값 + 나머지는 작은 값'인 분포. K-means는 거리 기반이라 이런 극단값이 거리 계산을 지배해버림 → log1p로 완화(단, amt_zscore_card는 음수 가능해서 sign(x)×log1p(|x|) 사용). 결측치는 Fold Train 중앙값으로 대체(leakage 방지).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K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K값 탐색 — 지표 4개, 답이 다 다르다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28016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548640" y="3794760"/>
          <a:ext cx="54864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6172200" y="37947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3F7F8"/>
          </a:solidFill>
          <a:ln/>
        </p:spPr>
      </p:sp>
      <p:sp>
        <p:nvSpPr>
          <p:cNvPr id="8" name="Text 3"/>
          <p:cNvSpPr/>
          <p:nvPr/>
        </p:nvSpPr>
        <p:spPr>
          <a:xfrm>
            <a:off x="640080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K=3을 채택한 이유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400800" y="42976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Silhouette 소규모 K 중 1위(0.346)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Davies-Bouldin 2위권(1.04, 1위 K=9는 0.99)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Calinski-Harabasz는 K=2가 압도적이지만, K=2는 "고액+이상치성" 그룹을 따로 못 잡아냄 → 해석 가능성 우선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48640" y="598932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F4B860"/>
          </a:solidFill>
          <a:ln/>
        </p:spPr>
      </p:sp>
      <p:sp>
        <p:nvSpPr>
          <p:cNvPr id="11" name="Text 6"/>
          <p:cNvSpPr/>
          <p:nvPr/>
        </p:nvSpPr>
        <p:spPr>
          <a:xfrm>
            <a:off x="548640" y="5989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채택: K=3 (다지표 종합 + 해석 가능성)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K=3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3개 유형 — 소액 · 중간 · 고액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67512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280160"/>
                <a:gridCol w="1371600"/>
                <a:gridCol w="548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군집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평균금액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거래건수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사기율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(중간금액)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546,777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(소액)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365,516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(고액)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234.0원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168,269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28016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0B3D46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5087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5배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772400" y="2423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고액그룹(2번) 사기율이 전체 평균(0.58%)의 약 5배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32918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카이제곱 독립성 검정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16,974.50, p &lt; 0.001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군집과 사기 여부, 통계적으로 유의하게 관련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74904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질문①②③ 답: 거래는 3개 유형(소액/중간/고액)으로 의미있게 나뉨 → 고액 유형에 사기가 뚜렷하게 몰림 → 그 유형은 '카드 평소 대비 확실히 튀는 고액 거래'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98932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0B3D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판정: Fraud relevance 확실히 있음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질문④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그런데, LightGBM에 추가하면?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3716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3F7F8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0" y="16459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-0.000047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949440" y="2331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변화 없음 (오히려 미세 하락)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9440" y="2926080"/>
            <a:ext cx="4389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안 통했나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고액그룹(사기 5배)을 가르는 기준이 결국 amt·amt_zscore_card인데, 이 두 변수는 LightGBM이 이미 원본 그대로 갖고 있음.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군집번호(0/1/2)는 이 정밀한 숫자를 뭉뚱그린 '요약본' — LightGBM 입장에선 이미 아는 정보를 재포장해서 받은 셈, 오히려 트리 분기에 방해가 될 수 있음.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6126480" cy="365760"/>
          </a:xfrm>
          <a:prstGeom prst="roundRect">
            <a:avLst>
              <a:gd name="adj" fmla="val 50000"/>
            </a:avLst>
          </a:prstGeom>
          <a:solidFill>
            <a:srgbClr val="0B3D4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852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A·B는 있어도 C(predictive usefulness)는 없음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이번엔 이상치(Noise) 관점으로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"군집은 사람이 K를 정해줘"   →   DBSCAN: "밀도로 내가 알아서 나누고, 안 끼는 건 Noise로 뺄게"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45C6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문제: predict()가 없다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DBSCAN은 '그 데이터셋 안에서의 상대적 밀도'로 판단하는 개념이라, 새로운(Validation) 점에 대해 다시 계산할 방법이 원래 없음.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45C66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해결: Core Point 거리 기반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DBSCAN의 정의를 그대로 적용: Validation의 각 점을 Train core point들과 비교해서, eps 이내로 가까운 core point가 있으면 '군집', 하나도 없으면 'Noise'로 직접 판정하는 함수 구현.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44805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Fold 전체(최대 108만건)에 그대로 fit하면 MemoryError 발생 → 15만건 샘플로 fit 후 나머지에 동일 규칙 적용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· PARAMETER 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탐색 — 너무 작아도, 커도 안 됨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1371600"/>
                <a:gridCol w="1645920"/>
                <a:gridCol w="4480560"/>
              </a:tblGrid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min_samples=10 Noise%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군집수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너무 많음, 군집도 과분할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채택 — 표본충분+실루엣양호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표본 다소 작음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표본 너무 작음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사실상 유명무실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006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3F7F8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9377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eps=0.3처럼 너무 작으면 정상 거래끼리도 Noise로 잘못 분류되고(10만건 중 15%!), eps=2.0처럼 너무 크면 거의 다 '정상'으로 뭉뚱그려져서 Noise 표본이 100~300건뿐 — 사기율 계산이 불안정해짐. eps=0.5, min_samples=10 채택(Noise 약 2.6%, 10만건 중 2,630건 — 통계적으로 충분).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· EPS=0.5, MIN_SAMPLES=10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거래 — 사기율이 34배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675120" cy="155448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371600"/>
                <a:gridCol w="1463040"/>
                <a:gridCol w="73152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평균금액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거래건수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사기율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1,056,907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417.6원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280160"/>
            <a:ext cx="4114800" cy="4434840"/>
          </a:xfrm>
          <a:prstGeom prst="roundRect">
            <a:avLst>
              <a:gd name="adj" fmla="val 1778"/>
            </a:avLst>
          </a:prstGeom>
          <a:solidFill>
            <a:srgbClr val="0B3D46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5087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34배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772400" y="2468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평균(0.58%) 대비 Noise 그룹 사기율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0" y="3154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고액그룹(5배)보다 훨씬 진한 신호 — '카드 평소 대비 압도적으로 튀는 초고액 거래'를 정확히 짚어냄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4206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카이제곱 독립성 검정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153,272.30, p &lt; 0.001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질문①②③ 답: DBSCAN도 사기와 강하게 관련된 이상치를 찾아냄 — K-means보다 더 극단적인 신호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· 질문④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신호가 34배인데도, 결과는 같았다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3716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3F7F8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0" y="16459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-0.001037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949440" y="2331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큰 하락폭 — 신호가 제일 강했는데도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9440" y="2926080"/>
            <a:ext cx="4389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이유, 더 크게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Noise를 가르는 것도 결국 amt(417 vs 62)·amt_zscore_card(3.58 vs -0.05) — LightGBM이 원본 그대로 갖고 있는 정밀한 숫자.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이진 플래그로 뭉개면 오히려 3.58이라는 정밀한 값을 잃어버리는 셈 — 정보 손실이 K-means 때보다 더 컸다고 해석 가능.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5120640" cy="365760"/>
          </a:xfrm>
          <a:prstGeom prst="roundRect">
            <a:avLst>
              <a:gd name="adj" fmla="val 50000"/>
            </a:avLst>
          </a:prstGeom>
          <a:solidFill>
            <a:srgbClr val="F4B86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 페이지: 정보를 덜 버리면 어떻게 될까?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심화실험 1 · DBSCAN 파생피처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이진 대신 연속값을 주면 — 결과가 뒤집힌다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37160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0B3D46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정보를 덜 버릴수록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낫다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26680" y="26517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dist_to_core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'가장 가까운 core point까지 거리' 그대로(연속값) — 7개 변수를 한꺼번에 반영한 종합 이상도 점수. +0.0003, 유일하게 개선.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cluster_id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이진보다는 세분화됐지만 여전히 범주 — 사실상 변화 없음(+0.00002).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is_noise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0/1로 완전히 뭉갬 — 가장 크게 하락(-0.0010).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89788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0B3D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897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뭉뚱그릴수록 손해, 정밀할수록 이득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심화실험 2 · 군집화 변수조합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어떤 변수로 군집을 만드느냐도 갈랐다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성능을 미리 안 보고, 분석 전에 개념적으로 정의한 2개 대안 조합으로 재실험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194560"/>
        </p:xfrm>
        <a:graphic>
          <a:graphicData uri="http://schemas.openxmlformats.org/drawingml/2006/table">
            <a:tbl>
              <a:tblPr/>
              <a:tblGrid>
                <a:gridCol w="2103120"/>
                <a:gridCol w="4297680"/>
                <a:gridCol w="100584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구성 변수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채택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OOF 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대비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원래 7개 전체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amt, trans_hour, zscore 등 전부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0.976791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-0.000047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금액중심 (5개)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amt, 비율, zscore, 1h합계, 시간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0.977310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3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+0.000473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빈도시간중심 (4개)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시간, 24h횟수, 30분횟수, 1h합계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0.976636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23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B3D46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2062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프로젝트 전체 통틀어 가장 큰 개선폭 (+0.000473)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663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빈도(count)류 변수를 빼고 '금액이 평소와 얼마나 다른가'에만 집중해서 군집을 만드니 개선. 반대로 빈도 변수를 중심에 두면 오히려 손해 — 이미 recent_24h_high_amt_count·count_30min이 원본 그대로 모델에 있어서, 이걸로 만든 군집은 더 겹치는 정보였을 가능성.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7개 변형 최종 비교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110642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F3F7F8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4288536"/>
            <a:ext cx="292608" cy="292608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4206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금액중심(5개)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4206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+0.000473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4206240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F3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6263640" y="4288536"/>
            <a:ext cx="292608" cy="292608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75120" y="4206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dist_to_core(연속형)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652760" y="4206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+0.000301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681728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F3F7F8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4764024"/>
            <a:ext cx="292608" cy="292608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764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" y="46817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cluster_id(범주형)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0" y="46817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+0.000020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72200" y="4681728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F3F7F8"/>
          </a:solidFill>
          <a:ln/>
        </p:spPr>
      </p:sp>
      <p:sp>
        <p:nvSpPr>
          <p:cNvPr id="21" name="Shape 18"/>
          <p:cNvSpPr/>
          <p:nvPr/>
        </p:nvSpPr>
        <p:spPr>
          <a:xfrm>
            <a:off x="6263640" y="4764024"/>
            <a:ext cx="292608" cy="292608"/>
          </a:xfrm>
          <a:prstGeom prst="ellipse">
            <a:avLst/>
          </a:prstGeom>
          <a:solidFill>
            <a:srgbClr val="0B3D46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764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75120" y="46817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(조합3)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652760" y="46817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+0.000000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157216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F3F7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" y="5239512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51560" y="515721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원래 7개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9200" y="5157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-0.000047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172200" y="5157216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F3F7F8"/>
          </a:solidFill>
          <a:ln/>
        </p:spPr>
      </p:sp>
      <p:sp>
        <p:nvSpPr>
          <p:cNvPr id="31" name="Shape 28"/>
          <p:cNvSpPr/>
          <p:nvPr/>
        </p:nvSpPr>
        <p:spPr>
          <a:xfrm>
            <a:off x="6263640" y="5239512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2" name="Text 29"/>
          <p:cNvSpPr/>
          <p:nvPr/>
        </p:nvSpPr>
        <p:spPr>
          <a:xfrm>
            <a:off x="626364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675120" y="515721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빈도시간중심(4개)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652760" y="5157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-0.000201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8640" y="5632704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F3F7F8"/>
          </a:solidFill>
          <a:ln/>
        </p:spPr>
      </p:sp>
      <p:sp>
        <p:nvSpPr>
          <p:cNvPr id="36" name="Shape 33"/>
          <p:cNvSpPr/>
          <p:nvPr/>
        </p:nvSpPr>
        <p:spPr>
          <a:xfrm>
            <a:off x="640080" y="5715000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7" name="Text 34"/>
          <p:cNvSpPr/>
          <p:nvPr/>
        </p:nvSpPr>
        <p:spPr>
          <a:xfrm>
            <a:off x="640080" y="5715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051560" y="56327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is_noise(이진)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029200" y="56327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-0.001037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— "도움 안 됨"이 아니라 "방법에 달렸다"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145C6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탐색은 성공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3500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K-means·DBSCAN 둘 다 사기와 통계적으로 유의하게(p&lt;0.001) 관련된 행동 유형을 실제로 찾아냄 (최대 34배 사기율 차이)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55448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145C66"/>
          </a:solidFill>
          <a:ln/>
        </p:spPr>
      </p:sp>
      <p:sp>
        <p:nvSpPr>
          <p:cNvPr id="10" name="Shape 8"/>
          <p:cNvSpPr/>
          <p:nvPr/>
        </p:nvSpPr>
        <p:spPr>
          <a:xfrm>
            <a:off x="3493008" y="1737360"/>
            <a:ext cx="457200" cy="457200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47288" y="233172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요약은 손해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2926080"/>
            <a:ext cx="23500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0/1처럼 정보를 뭉개서 넣으면 이미 모델이 아는 정보의 저해상도 버전이 되어 오히려 성능이 떨어짐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155448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145C6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54496" y="1737360"/>
            <a:ext cx="457200" cy="457200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08776" y="233172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연속값·좁은 변수는 이득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08776" y="2926080"/>
            <a:ext cx="23500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dist_to_core(연속형), 금액중심 변수조합처럼 정보를 덜 버리거나 목적에 맞게 좁히면 미세하지만 실제 개선(+0.0003~0.0005)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33104" y="155448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145C66"/>
          </a:solidFill>
          <a:ln/>
        </p:spPr>
      </p:sp>
      <p:sp>
        <p:nvSpPr>
          <p:cNvPr id="20" name="Shape 18"/>
          <p:cNvSpPr/>
          <p:nvPr/>
        </p:nvSpPr>
        <p:spPr>
          <a:xfrm>
            <a:off x="9015984" y="1737360"/>
            <a:ext cx="457200" cy="457200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21" name="Text 19"/>
          <p:cNvSpPr/>
          <p:nvPr/>
        </p:nvSpPr>
        <p:spPr>
          <a:xfrm>
            <a:off x="901598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70264" y="233172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개선폭이 작은 건 당연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70264" y="2926080"/>
            <a:ext cx="23500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PR-AUC 0.977 근처(최상위권)까지 올라온 모델이라, 여기서 더 짜낼 여지 자체가 원래 작음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 성능: K-means(금액중심 5개, K=2) 추가 시 OOF PR-AUC 0.977310 (Baseline 대비 +0.000473) — 실무 적용을 고려할 만한 유일한 후보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질문⑤ · LEAKAGE 방지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개선폭, 미래를 훔쳐본 결과 아닌가?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20040" cy="320040"/>
          </a:xfrm>
          <a:prstGeom prst="ellipse">
            <a:avLst/>
          </a:prstGeom>
          <a:solidFill>
            <a:srgbClr val="0B3D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스케일러·K-means·DBSCAN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2801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Fold의 Train에만 fit, Validation은 transform/predict만 (지금까지 scale_pos_weight·OneHotEncoder에 썼던 원칙 그대로)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B3D4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대체값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148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Train의 중앙값으로 계산, Validation에도 동일값 적용 (Validation 통계를 보고 정하지 않음)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B3D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017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행동변수 선정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017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시작 전 개념적으로 정의(금액중심/빈도시간중심) — Validation 성능을 미리 보고 나중에 바꾸지 않음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B3D4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Validation 적용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3886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predict가 없는 한계를, Train core point까지의 거리 규칙으로 직접 구현 — Validation 정보를 학습에 쓰지 않음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320040" cy="320040"/>
          </a:xfrm>
          <a:prstGeom prst="ellipse">
            <a:avLst/>
          </a:prstGeom>
          <a:solidFill>
            <a:srgbClr val="0B3D4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00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7548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4754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전체를 통합한 OOF(Out-of-Fold)로 PR-AUC 계산 — 특정 Fold 하나에 우연히 맞은 게 아님을 확인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5760720" cy="384048"/>
          </a:xfrm>
          <a:prstGeom prst="roundRect">
            <a:avLst>
              <a:gd name="adj" fmla="val 50000"/>
            </a:avLst>
          </a:prstGeom>
          <a:solidFill>
            <a:srgbClr val="0B3D4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8521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답: 훔쳐보지 않았음 — 전 과정 leak-safe하게 검증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0B3D4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채택 검토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K-means(금액중심5개, K=2) 피처를 최종 LightGBM 파이프라인에 실제로 편입할지 팀 논의 — 개선폭(+0.0005)과 파이프라인 복잡도 증가를 함께 고려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3F7F8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6280" y="2560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Test셋 평가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1546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팀의 Test셋(민정님 재구축 예정)이 확정되면, 채택 시 이 피처가 Test에서도 개선을 유지하는지 마지막으로 한 번 확인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3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2560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변수조합 추가 탐색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31546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금액중심 조합이 잘 통했던 이유를 더 파서, 비슷한 방향의 다른 부분조합도 시도해볼 여지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노트북: 군집분석/군집분석_다영.ipynb — Restart Kernel + Run All로 전체 파이프라인 처음부터 재현 가능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2026-08-16T03:45:02Z</dcterms:created>
  <dcterms:modified xsi:type="dcterms:W3CDTF">2026-08-16T03:45:02Z</dcterms:modified>
</cp:coreProperties>
</file>