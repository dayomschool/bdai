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 autoCompressPictures="0">
  <p:sldMasterIdLst>
    <p:sldMasterId id="2147483650" r:id="rId3"/>
  </p:sldMasterIdLst>
  <p:notesMasterIdLst>
    <p:notesMasterId r:id="rId5"/>
  </p:notesMasterIdLst>
  <p:sldIdLst>
    <p:sldId id="256" r:id="rId7"/>
    <p:sldId id="257" r:id="rId9"/>
    <p:sldId id="258" r:id="rId11"/>
    <p:sldId id="259" r:id="rId13"/>
    <p:sldId id="260" r:id="rId15"/>
    <p:sldId id="261" r:id="rId17"/>
    <p:sldId id="262" r:id="rId19"/>
    <p:sldId id="263" r:id="rId21"/>
    <p:sldId id="264" r:id="rId23"/>
    <p:sldId id="265" r:id="rId25"/>
    <p:sldId id="266" r:id="rId27"/>
    <p:sldId id="267" r:id="rId29"/>
    <p:sldId id="268" r:id="rId31"/>
    <p:sldId id="269" r:id="rId33"/>
    <p:sldId id="270" r:id="rId35"/>
    <p:sldId id="271" r:id="rId37"/>
  </p:sldIdLst>
  <p:notesMasterIdLst/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3" Type="http://schemas.openxmlformats.org/officeDocument/2006/relationships/slideMaster" Target="slideMasters/slideMaster1.xml"></Relationship><Relationship Id="rId4" Type="http://schemas.openxmlformats.org/officeDocument/2006/relationships/theme" Target="theme/theme1.xml"></Relationship><Relationship Id="rId5" Type="http://schemas.openxmlformats.org/officeDocument/2006/relationships/notesMaster" Target="notesMasters/notesMaster1.xml"></Relationship><Relationship Id="rId7" Type="http://schemas.openxmlformats.org/officeDocument/2006/relationships/slide" Target="slides/slide1.xml"></Relationship><Relationship Id="rId9" Type="http://schemas.openxmlformats.org/officeDocument/2006/relationships/slide" Target="slides/slide2.xml"></Relationship><Relationship Id="rId11" Type="http://schemas.openxmlformats.org/officeDocument/2006/relationships/slide" Target="slides/slide3.xml"></Relationship><Relationship Id="rId13" Type="http://schemas.openxmlformats.org/officeDocument/2006/relationships/slide" Target="slides/slide4.xml"></Relationship><Relationship Id="rId15" Type="http://schemas.openxmlformats.org/officeDocument/2006/relationships/slide" Target="slides/slide5.xml"></Relationship><Relationship Id="rId17" Type="http://schemas.openxmlformats.org/officeDocument/2006/relationships/slide" Target="slides/slide6.xml"></Relationship><Relationship Id="rId19" Type="http://schemas.openxmlformats.org/officeDocument/2006/relationships/slide" Target="slides/slide7.xml"></Relationship><Relationship Id="rId21" Type="http://schemas.openxmlformats.org/officeDocument/2006/relationships/slide" Target="slides/slide8.xml"></Relationship><Relationship Id="rId23" Type="http://schemas.openxmlformats.org/officeDocument/2006/relationships/slide" Target="slides/slide9.xml"></Relationship><Relationship Id="rId25" Type="http://schemas.openxmlformats.org/officeDocument/2006/relationships/slide" Target="slides/slide10.xml"></Relationship><Relationship Id="rId27" Type="http://schemas.openxmlformats.org/officeDocument/2006/relationships/slide" Target="slides/slide11.xml"></Relationship><Relationship Id="rId29" Type="http://schemas.openxmlformats.org/officeDocument/2006/relationships/slide" Target="slides/slide12.xml"></Relationship><Relationship Id="rId31" Type="http://schemas.openxmlformats.org/officeDocument/2006/relationships/slide" Target="slides/slide13.xml"></Relationship><Relationship Id="rId33" Type="http://schemas.openxmlformats.org/officeDocument/2006/relationships/slide" Target="slides/slide14.xml"></Relationship><Relationship Id="rId35" Type="http://schemas.openxmlformats.org/officeDocument/2006/relationships/slide" Target="slides/slide15.xml"></Relationship><Relationship Id="rId37" Type="http://schemas.openxmlformats.org/officeDocument/2006/relationships/slide" Target="slides/slide16.xml"></Relationship><Relationship Id="rId39" Type="http://schemas.openxmlformats.org/officeDocument/2006/relationships/viewProps" Target="viewProps.xml"></Relationship><Relationship Id="rId40" Type="http://schemas.openxmlformats.org/officeDocument/2006/relationships/presProps" Target="presProps.xml"></Relationship></Relationships>
</file>

<file path=ppt/charts/_rels/chart1.xml.rels><?xml version="1.0" encoding="UTF-8"?>
<Relationships xmlns="http://schemas.openxmlformats.org/package/2006/relationships"><Relationship Id="rId1" Type="http://schemas.openxmlformats.org/officeDocument/2006/relationships/package" Target="../embeddings/Polaris_Office_Excel_____282560000.xlsx"></Relationship></Relationships>
</file>

<file path=ppt/charts/_rels/chart2.xml.rels><?xml version="1.0" encoding="UTF-8"?>
<Relationships xmlns="http://schemas.openxmlformats.org/package/2006/relationships"><Relationship Id="rId1" Type="http://schemas.openxmlformats.org/officeDocument/2006/relationships/package" Target="../embeddings/Polaris_Office_Excel_____282521584.xlsx"></Relationship></Relationships>
</file>

<file path=ppt/charts/_rels/chart3.xml.rels><?xml version="1.0" encoding="UTF-8"?>
<Relationships xmlns="http://schemas.openxmlformats.org/package/2006/relationships"><Relationship Id="rId1" Type="http://schemas.openxmlformats.org/officeDocument/2006/relationships/package" Target="../embeddings/Polaris_Office_Excel_____282400512.xlsx"></Relationship></Relationships>
</file>

<file path=ppt/charts/_rels/chart4.xml.rels><?xml version="1.0" encoding="UTF-8"?>
<Relationships xmlns="http://schemas.openxmlformats.org/package/2006/relationships"><Relationship Id="rId1" Type="http://schemas.openxmlformats.org/officeDocument/2006/relationships/package" Target="../embeddings/Polaris_Office_Excel_____280422488.xlsx"></Relationship></Relationships>
</file>

<file path=ppt/charts/_rels/chart5.xml.rels><?xml version="1.0" encoding="UTF-8"?>
<Relationships xmlns="http://schemas.openxmlformats.org/package/2006/relationships"><Relationship Id="rId1" Type="http://schemas.openxmlformats.org/officeDocument/2006/relationships/package" Target="../embeddings/Polaris_Office_Excel_____288946640.xlsx"></Relationship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PR-AUC (조합3, 3-Fold)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C85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C857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Logistic
Regression</c:v>
                  </c:pt>
                  <c:pt idx="1">
                    <c:v>Random
Forest</c:v>
                  </c:pt>
                  <c:pt idx="2">
                    <c:v>XGBoost</c:v>
                  </c:pt>
                  <c:pt idx="3">
                    <c:v>LightGBM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0.4416</c:v>
                </c:pt>
                <c:pt idx="1">
                  <c:v>0.9529</c:v>
                </c:pt>
                <c:pt idx="2">
                  <c:v>0.9751</c:v>
                </c:pt>
                <c:pt idx="3">
                  <c:v>0.975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1" i="0" strike="noStrike" sz="1300" u="none">
                  <a:solidFill>
                    <a:srgbClr val="0B25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331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12700" cap="flat">
              <a:solidFill>
                <a:srgbClr val="E5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5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OOF 통합 PR-AUC</c:v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Lbls>
            <c:numFmt formatCode="0.0000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25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C857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XGBoost</c:v>
                  </c:pt>
                  <c:pt idx="1">
                    <c:v>LightGBM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0.973903</c:v>
                </c:pt>
                <c:pt idx="1">
                  <c:v>0.97456</c:v>
                </c:pt>
              </c:numCache>
            </c:numRef>
          </c:val>
        </c:ser>
        <c:dLbls>
          <c:numFmt formatCode="0.000000" sourceLinked="0"/>
          <c:txPr>
            <a:bodyPr/>
            <a:lstStyle/>
            <a:p>
              <a:pPr>
                <a:defRPr b="1" i="0" strike="noStrike" sz="1400" u="none">
                  <a:solidFill>
                    <a:srgbClr val="0B25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1331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8"/>
          <c:min val="0.965"/>
        </c:scaling>
        <c:delete val="0"/>
        <c:axPos val="b"/>
        <c:majorGridlines>
          <c:spPr>
            <a:ln w="12700" cap="flat">
              <a:solidFill>
                <a:srgbClr val="E5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5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331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Fold 1</c:v>
                  </c:pt>
                  <c:pt idx="1">
                    <c:v>Fold 2</c:v>
                  </c:pt>
                  <c:pt idx="2">
                    <c:v>Fold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0.909</c:v>
                </c:pt>
                <c:pt idx="1">
                  <c:v>0.9559</c:v>
                </c:pt>
                <c:pt idx="2">
                  <c:v>0.9635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LightGBM</c:v>
                </c:pt>
              </c:strCache>
            </c:strRef>
          </c:tx>
          <c:spPr>
            <a:solidFill>
              <a:srgbClr val="FFC857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331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Fold 1</c:v>
                  </c:pt>
                  <c:pt idx="1">
                    <c:v>Fold 2</c:v>
                  </c:pt>
                  <c:pt idx="2">
                    <c:v>Fold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0.9609</c:v>
                </c:pt>
                <c:pt idx="1">
                  <c:v>0.9516</c:v>
                </c:pt>
                <c:pt idx="2">
                  <c:v>0.9694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1" i="0" strike="noStrike" sz="1000" u="none">
                  <a:solidFill>
                    <a:srgbClr val="1331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331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85"/>
        </c:scaling>
        <c:delete val="0"/>
        <c:axPos val="l"/>
        <c:majorGridlines>
          <c:spPr>
            <a:ln w="12700" cap="flat">
              <a:solidFill>
                <a:srgbClr val="E5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5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0B2545"/>
            </a:solidFill>
            <a:ln w="31750" cap="flat">
              <a:solidFill>
                <a:srgbClr val="0B25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B2545"/>
              </a:solidFill>
              <a:ln w="9525" cap="flat">
                <a:solidFill>
                  <a:srgbClr val="0B25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-0.05</c:v>
                  </c:pt>
                  <c:pt idx="1">
                    <c:v>-0.02</c:v>
                  </c:pt>
                  <c:pt idx="2">
                    <c:v>0</c:v>
                  </c:pt>
                  <c:pt idx="3">
                    <c:v>+0.02</c:v>
                  </c:pt>
                  <c:pt idx="4">
                    <c:v>+0.05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0.933</c:v>
                </c:pt>
                <c:pt idx="1">
                  <c:v>0.938</c:v>
                </c:pt>
                <c:pt idx="2">
                  <c:v>0.94</c:v>
                </c:pt>
                <c:pt idx="3">
                  <c:v>0.937</c:v>
                </c:pt>
                <c:pt idx="4">
                  <c:v>0.852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LightGBM</c:v>
                </c:pt>
              </c:strCache>
            </c:strRef>
          </c:tx>
          <c:spPr>
            <a:solidFill>
              <a:srgbClr val="FFC857"/>
            </a:solidFill>
            <a:ln w="31750" cap="flat">
              <a:solidFill>
                <a:srgbClr val="FFC8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C857"/>
              </a:solidFill>
              <a:ln w="9525" cap="flat">
                <a:solidFill>
                  <a:srgbClr val="FFC8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-0.05</c:v>
                  </c:pt>
                  <c:pt idx="1">
                    <c:v>-0.02</c:v>
                  </c:pt>
                  <c:pt idx="2">
                    <c:v>0</c:v>
                  </c:pt>
                  <c:pt idx="3">
                    <c:v>+0.02</c:v>
                  </c:pt>
                  <c:pt idx="4">
                    <c:v>+0.05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0.933</c:v>
                </c:pt>
                <c:pt idx="1">
                  <c:v>0.937</c:v>
                </c:pt>
                <c:pt idx="2">
                  <c:v>0.939</c:v>
                </c:pt>
                <c:pt idx="3">
                  <c:v>0.93</c:v>
                </c:pt>
                <c:pt idx="4">
                  <c:v>0.85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331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6"/>
          <c:min val="0.8"/>
        </c:scaling>
        <c:delete val="0"/>
        <c:axPos val="l"/>
        <c:majorGridlines>
          <c:spPr>
            <a:ln w="12700" cap="flat">
              <a:solidFill>
                <a:srgbClr val="E5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5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Brier</c:v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Lbls>
            <c:numFmt formatCode="0.0000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25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C857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XGBoost</c:v>
                  </c:pt>
                  <c:pt idx="1">
                    <c:v>LightGBM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0.001593</c:v>
                </c:pt>
                <c:pt idx="1">
                  <c:v>0.002023</c:v>
                </c:pt>
              </c:numCache>
            </c:numRef>
          </c:val>
        </c:ser>
        <c:dLbls>
          <c:numFmt formatCode="0.000000" sourceLinked="0"/>
          <c:txPr>
            <a:bodyPr/>
            <a:lstStyle/>
            <a:p>
              <a:pPr>
                <a:defRPr b="1" i="0" strike="noStrike" sz="1200" u="none">
                  <a:solidFill>
                    <a:srgbClr val="0B25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331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_rels/notesSlide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.xml"></Relationship></Relationships>
</file>

<file path=ppt/notesSlides/_rels/notesSlide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.xml"></Relationship></Relationships>
</file>

<file path=ppt/notesSlides/_rels/notesSlide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4.xml"></Relationship></Relationships>
</file>

<file path=ppt/notesSlides/_rels/notesSlide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5.xml"></Relationship></Relationships>
</file>

<file path=ppt/notesSlides/_rels/notesSlide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6.xml"></Relationship></Relationships>
</file>

<file path=ppt/notesSlides/_rels/notesSlide7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7.xml"></Relationship></Relationships>
</file>

<file path=ppt/notesSlides/_rels/notesSlide8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8.xml"></Relationship></Relationships>
</file>

<file path=ppt/notesSlides/_rels/notesSlide9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9.xml"></Relationship></Relationships>
</file>

<file path=ppt/notesSlides/_rels/notesSlide10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0.xml"></Relationship></Relationships>
</file>

<file path=ppt/notesSlides/_rels/notesSlide1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1.xml"></Relationship></Relationships>
</file>

<file path=ppt/notesSlides/_rels/notesSlide1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2.xml"></Relationship></Relationships>
</file>

<file path=ppt/notesSlides/_rels/notesSlide1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3.xml"></Relationship></Relationships>
</file>

<file path=ppt/notesSlides/_rels/notesSlide1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4.xml"></Relationship></Relationships>
</file>

<file path=ppt/notesSlides/_rels/notesSlide1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5.xml"></Relationship></Relationships>
</file>

<file path=ppt/notesSlides/_rels/notesSlide1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6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2.xm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3.xm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chart" Target="../charts/chart1.xml"></Relationship><Relationship Id="rId2" Type="http://schemas.openxmlformats.org/officeDocument/2006/relationships/slideLayout" Target="../slideLayouts/slideLayout1.xml"></Relationship><Relationship Id="rId3" Type="http://schemas.openxmlformats.org/officeDocument/2006/relationships/notesSlide" Target="../notesSlides/notesSlide4.xml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5.xml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6.xml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7.xml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chart" Target="../charts/chart2.xml"></Relationship><Relationship Id="rId2" Type="http://schemas.openxmlformats.org/officeDocument/2006/relationships/slideLayout" Target="../slideLayouts/slideLayout1.xml"></Relationship><Relationship Id="rId3" Type="http://schemas.openxmlformats.org/officeDocument/2006/relationships/notesSlide" Target="../notesSlides/notesSlide8.xml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9.xml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0.xml"></Relationship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chart" Target="../charts/chart3.xml"></Relationship><Relationship Id="rId2" Type="http://schemas.openxmlformats.org/officeDocument/2006/relationships/slideLayout" Target="../slideLayouts/slideLayout1.xml"></Relationship><Relationship Id="rId3" Type="http://schemas.openxmlformats.org/officeDocument/2006/relationships/notesSlide" Target="../notesSlides/notesSlide11.xml"></Relationship></Relationships>
</file>

<file path=ppt/slides/_rels/slide12.xml.rels><?xml version="1.0" encoding="UTF-8"?>
<Relationships xmlns="http://schemas.openxmlformats.org/package/2006/relationships"><Relationship Id="rId1" Type="http://schemas.openxmlformats.org/officeDocument/2006/relationships/chart" Target="../charts/chart4.xml"></Relationship><Relationship Id="rId2" Type="http://schemas.openxmlformats.org/officeDocument/2006/relationships/chart" Target="../charts/chart5.xml"></Relationship><Relationship Id="rId3" Type="http://schemas.openxmlformats.org/officeDocument/2006/relationships/slideLayout" Target="../slideLayouts/slideLayout1.xml"></Relationship><Relationship Id="rId4" Type="http://schemas.openxmlformats.org/officeDocument/2006/relationships/notesSlide" Target="../notesSlides/notesSlide12.xml"></Relationship></Relationships>
</file>

<file path=ppt/slides/_rels/slide1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3.xml"></Relationship></Relationships>
</file>

<file path=ppt/slides/_rels/slide1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4.xml"></Relationship></Relationships>
</file>

<file path=ppt/slides/_rels/slide1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5.xml"></Relationship></Relationships>
</file>

<file path=ppt/slides/_rels/slide16.xml.rels><?xml version="1.0" encoding="UTF-8"?>
<Relationships xmlns="http://schemas.openxmlformats.org/package/2006/relationships"><Relationship Id="rId2" Type="http://schemas.openxmlformats.org/officeDocument/2006/relationships/notesSlide" Target="../notesSlides/notesSlide16.xml"></Relationship><Relationship Id="rId3" Type="http://schemas.openxmlformats.org/officeDocument/2006/relationships/slideLayout" Target="../slideLayouts/slideLayout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5" name="Shape 3"/>
          <p:cNvSpPr/>
          <p:nvPr/>
        </p:nvSpPr>
        <p:spPr>
          <a:xfrm>
            <a:off x="-1097280" y="4754880"/>
            <a:ext cx="2743200" cy="27432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SIGNBRIDGE FDS  ·  4개 알고리즘 비교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알고리즘 최종 선정 근거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+ 조합3, 왜 최종인가 — RandomForest·XGBoost·Logistic Regression은 왜 탈락했는가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4개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4800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알고리즘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5개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4800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변수 조합 후보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3-Fold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26480" y="4800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시간순 확장형 교차검증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7824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조합3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778240" y="4800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채택 변수조합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다영  ·  알고리즘 최종 선정 담당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PROCEDURE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우리 팀은 어떤 절차로 여기까지 왔나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139696" cy="4206240"/>
          </a:xfrm>
          <a:prstGeom prst="roundRect">
            <a:avLst>
              <a:gd name="adj" fmla="val 3419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1325880" y="1874520"/>
            <a:ext cx="585216" cy="585216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8745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변수 조합 1차 비교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177393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알고리즘이 각자 5개 변수조합을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조건(80:20, scale_pos_weight,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threshold=0.90)으로 비교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25496" y="1600200"/>
            <a:ext cx="2139696" cy="4206240"/>
          </a:xfrm>
          <a:prstGeom prst="roundRect">
            <a:avLst>
              <a:gd name="adj" fmla="val 3419"/>
            </a:avLst>
          </a:prstGeom>
          <a:solidFill>
            <a:srgbClr val="F4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3602736" y="1874520"/>
            <a:ext cx="585216" cy="585216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3602736" y="18745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62656" y="2651760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시간순 3-Fold CV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튜닝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08376" y="3429000"/>
            <a:ext cx="177393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확장형 3-Fold로 하이퍼파라미터 튜닝,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Fold별 PR-AUC 평균·표준편차 확인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02352" y="1600200"/>
            <a:ext cx="2139696" cy="4206240"/>
          </a:xfrm>
          <a:prstGeom prst="roundRect">
            <a:avLst>
              <a:gd name="adj" fmla="val 3419"/>
            </a:avLst>
          </a:prstGeom>
          <a:solidFill>
            <a:srgbClr val="F4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5879592" y="1874520"/>
            <a:ext cx="585216" cy="585216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6" name="Text 14"/>
          <p:cNvSpPr/>
          <p:nvPr/>
        </p:nvSpPr>
        <p:spPr>
          <a:xfrm>
            <a:off x="5879592" y="18745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39512" y="2651760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임계값 조정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85232" y="3429000"/>
            <a:ext cx="177393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(최종 후보에 한해) Fold별 예측확률을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OOF로 통합해 F1 최대 임계값 산출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79208" y="1600200"/>
            <a:ext cx="2139696" cy="4206240"/>
          </a:xfrm>
          <a:prstGeom prst="roundRect">
            <a:avLst>
              <a:gd name="adj" fmla="val 3419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56448" y="1874520"/>
            <a:ext cx="585216" cy="585216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1" name="Text 19"/>
          <p:cNvSpPr/>
          <p:nvPr/>
        </p:nvSpPr>
        <p:spPr>
          <a:xfrm>
            <a:off x="8156448" y="18745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16368" y="2651760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모델 선정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62088" y="3429000"/>
            <a:ext cx="177393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이 PPT가 다루는 단계.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+ 안정성 + Precision/FP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과적합 + 효율성 종합 비교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56064" y="1600200"/>
            <a:ext cx="2139696" cy="4206240"/>
          </a:xfrm>
          <a:prstGeom prst="roundRect">
            <a:avLst>
              <a:gd name="adj" fmla="val 3419"/>
            </a:avLst>
          </a:prstGeom>
          <a:solidFill>
            <a:srgbClr val="F4F6F9"/>
          </a:solidFill>
          <a:ln/>
        </p:spPr>
      </p:sp>
      <p:sp>
        <p:nvSpPr>
          <p:cNvPr id="25" name="Shape 23"/>
          <p:cNvSpPr/>
          <p:nvPr/>
        </p:nvSpPr>
        <p:spPr>
          <a:xfrm>
            <a:off x="10433304" y="1874520"/>
            <a:ext cx="585216" cy="585216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6" name="Text 24"/>
          <p:cNvSpPr/>
          <p:nvPr/>
        </p:nvSpPr>
        <p:spPr>
          <a:xfrm>
            <a:off x="10433304" y="18745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793224" y="2651760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학습 · Test 평가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838944" y="3429000"/>
            <a:ext cx="177393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확정 후 Train 전체 재학습,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Test에서 단 한 번 최종 성능 측정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PPT는 4단계 — 5개 변수조합 각자 1~3개 후보로 좁혀진 뒤, 팀이 조합3 + LightGBM을 최종으로 선택한 근거를 정리합니다.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COMBINATION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조합3인가 — 11개 변수가 보는 것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조합3 = category, amt, trans_hour, age, recent_24h_high_amt_count, amt_to_prior_median_ratio, rolling_sum_amt_1h, amt_zscore_card, prior_normal_median_amt, count_30min, high_speed  ·  아래 %는 최종모델(LightGBM+조합3) 자체를 학습해 직접 계산한 SHAP 기여도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51760" cy="3246120"/>
          </a:xfrm>
          <a:prstGeom prst="roundRect">
            <a:avLst>
              <a:gd name="adj" fmla="val 2759"/>
            </a:avLst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2651760" cy="86868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8366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고객 평소 대비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이상 금액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4048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기여 32.0%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907792"/>
            <a:ext cx="73152" cy="73152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77977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06040" y="277977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14.2%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3236976"/>
            <a:ext cx="73152" cy="73152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1089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prior_normal_median_amt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06040" y="31089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3566160"/>
            <a:ext cx="73152" cy="73152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43814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amt_to_prior_median_ratio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06040" y="343814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5.3%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" y="3895344"/>
            <a:ext cx="73152" cy="73152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7673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amt_zscore_card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06040" y="376732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4.5%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5800" y="4242816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사람 평소 결제 습관과 비교해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금액이 튀는가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1828800"/>
            <a:ext cx="2651760" cy="3246120"/>
          </a:xfrm>
          <a:prstGeom prst="roundRect">
            <a:avLst>
              <a:gd name="adj" fmla="val 2759"/>
            </a:avLst>
          </a:prstGeom>
          <a:solidFill>
            <a:srgbClr val="F4F6F9"/>
          </a:solidFill>
          <a:ln/>
        </p:spPr>
      </p:sp>
      <p:sp>
        <p:nvSpPr>
          <p:cNvPr id="23" name="Shape 21"/>
          <p:cNvSpPr/>
          <p:nvPr/>
        </p:nvSpPr>
        <p:spPr>
          <a:xfrm>
            <a:off x="3337560" y="1828800"/>
            <a:ext cx="2651760" cy="86868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188366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단시간 집중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거래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74720" y="24048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기여 12.1%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520440" y="2907792"/>
            <a:ext cx="73152" cy="73152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27" name="Text 25"/>
          <p:cNvSpPr/>
          <p:nvPr/>
        </p:nvSpPr>
        <p:spPr>
          <a:xfrm>
            <a:off x="3703320" y="277977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rolling_sum_amt_1h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94960" y="277977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520440" y="3236976"/>
            <a:ext cx="73152" cy="73152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0" name="Text 28"/>
          <p:cNvSpPr/>
          <p:nvPr/>
        </p:nvSpPr>
        <p:spPr>
          <a:xfrm>
            <a:off x="3703320" y="31089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recent_24h_high_amt_count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94960" y="31089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3.0%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520440" y="3566160"/>
            <a:ext cx="73152" cy="73152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3" name="Text 31"/>
          <p:cNvSpPr/>
          <p:nvPr/>
        </p:nvSpPr>
        <p:spPr>
          <a:xfrm>
            <a:off x="3703320" y="343814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count_30min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94960" y="343814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1.2%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474720" y="4242816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짧은 시간에 몰아서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긁는 패턴인가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1828800"/>
            <a:ext cx="2651760" cy="3246120"/>
          </a:xfrm>
          <a:prstGeom prst="roundRect">
            <a:avLst>
              <a:gd name="adj" fmla="val 2759"/>
            </a:avLst>
          </a:prstGeom>
          <a:solidFill>
            <a:srgbClr val="F4F6F9"/>
          </a:solidFill>
          <a:ln/>
        </p:spPr>
      </p:sp>
      <p:sp>
        <p:nvSpPr>
          <p:cNvPr id="37" name="Shape 35"/>
          <p:cNvSpPr/>
          <p:nvPr/>
        </p:nvSpPr>
        <p:spPr>
          <a:xfrm>
            <a:off x="6126480" y="1828800"/>
            <a:ext cx="2651760" cy="868680"/>
          </a:xfrm>
          <a:prstGeom prst="rect">
            <a:avLst/>
          </a:prstGeom>
          <a:solidFill>
            <a:srgbClr val="3E6690"/>
          </a:solidFill>
          <a:ln/>
        </p:spPr>
      </p:sp>
      <p:sp>
        <p:nvSpPr>
          <p:cNvPr id="38" name="Text 36"/>
          <p:cNvSpPr/>
          <p:nvPr/>
        </p:nvSpPr>
        <p:spPr>
          <a:xfrm>
            <a:off x="6263640" y="188366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시간대 · 이동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63640" y="24048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기여 13.8%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09360" y="2907792"/>
            <a:ext cx="73152" cy="73152"/>
          </a:xfrm>
          <a:prstGeom prst="ellipse">
            <a:avLst/>
          </a:prstGeom>
          <a:solidFill>
            <a:srgbClr val="3E6690"/>
          </a:solidFill>
          <a:ln/>
        </p:spPr>
      </p:sp>
      <p:sp>
        <p:nvSpPr>
          <p:cNvPr id="41" name="Text 39"/>
          <p:cNvSpPr/>
          <p:nvPr/>
        </p:nvSpPr>
        <p:spPr>
          <a:xfrm>
            <a:off x="6492240" y="277977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trans_hour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183880" y="277977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E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11.5%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309360" y="3236976"/>
            <a:ext cx="73152" cy="73152"/>
          </a:xfrm>
          <a:prstGeom prst="ellipse">
            <a:avLst/>
          </a:prstGeom>
          <a:solidFill>
            <a:srgbClr val="3E6690"/>
          </a:solidFill>
          <a:ln/>
        </p:spPr>
      </p:sp>
      <p:sp>
        <p:nvSpPr>
          <p:cNvPr id="44" name="Text 42"/>
          <p:cNvSpPr/>
          <p:nvPr/>
        </p:nvSpPr>
        <p:spPr>
          <a:xfrm>
            <a:off x="6492240" y="31089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high_speed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183880" y="31089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E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2.2%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63640" y="4242816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평소 안 쓰던 시간대,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물리적으로 불가능한 이동속도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915400" y="1828800"/>
            <a:ext cx="2651760" cy="3246120"/>
          </a:xfrm>
          <a:prstGeom prst="roundRect">
            <a:avLst>
              <a:gd name="adj" fmla="val 2759"/>
            </a:avLst>
          </a:prstGeom>
          <a:solidFill>
            <a:srgbClr val="F4F6F9"/>
          </a:solidFill>
          <a:ln/>
        </p:spPr>
      </p:sp>
      <p:sp>
        <p:nvSpPr>
          <p:cNvPr id="48" name="Shape 46"/>
          <p:cNvSpPr/>
          <p:nvPr/>
        </p:nvSpPr>
        <p:spPr>
          <a:xfrm>
            <a:off x="8915400" y="1828800"/>
            <a:ext cx="2651760" cy="868680"/>
          </a:xfrm>
          <a:prstGeom prst="rect">
            <a:avLst/>
          </a:prstGeom>
          <a:solidFill>
            <a:srgbClr val="5C8AB5"/>
          </a:solidFill>
          <a:ln/>
        </p:spPr>
      </p:sp>
      <p:sp>
        <p:nvSpPr>
          <p:cNvPr id="49" name="Text 47"/>
          <p:cNvSpPr/>
          <p:nvPr/>
        </p:nvSpPr>
        <p:spPr>
          <a:xfrm>
            <a:off x="9052560" y="188366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 인적 · 업종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특성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9052560" y="24048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기여 42.2%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098280" y="2907792"/>
            <a:ext cx="73152" cy="73152"/>
          </a:xfrm>
          <a:prstGeom prst="ellipse">
            <a:avLst/>
          </a:prstGeom>
          <a:solidFill>
            <a:srgbClr val="5C8AB5"/>
          </a:solidFill>
          <a:ln/>
        </p:spPr>
      </p:sp>
      <p:sp>
        <p:nvSpPr>
          <p:cNvPr id="52" name="Text 50"/>
          <p:cNvSpPr/>
          <p:nvPr/>
        </p:nvSpPr>
        <p:spPr>
          <a:xfrm>
            <a:off x="9281160" y="277977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972800" y="277977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C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32.5%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098280" y="3236976"/>
            <a:ext cx="73152" cy="73152"/>
          </a:xfrm>
          <a:prstGeom prst="ellipse">
            <a:avLst/>
          </a:prstGeom>
          <a:solidFill>
            <a:srgbClr val="5C8AB5"/>
          </a:solidFill>
          <a:ln/>
        </p:spPr>
      </p:sp>
      <p:sp>
        <p:nvSpPr>
          <p:cNvPr id="55" name="Text 53"/>
          <p:cNvSpPr/>
          <p:nvPr/>
        </p:nvSpPr>
        <p:spPr>
          <a:xfrm>
            <a:off x="9281160" y="31089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972800" y="31089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C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9.6%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9052560" y="4242816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가맹점 업종별 기본 사기율,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연령대 — 이 모델 최대 기여 그룹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11개 변수, 4개 알고리즘 전부 동일. LightGBM+조합3 자체 SHAP 기준 category(업종)가 32.5%로 단일 변수 중 가장 크게 기여 — LightGBM이 원-핫 없이 업종을 통째로 최적 분할해서 XGBoost보다 이 신호를 더 효율적으로 뽑아낸다는 뜻이기도 함.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FAIR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같은 변수, 같은 Fold — 4개 알고리즘 정면비교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각자 제일 잘 나온 조합이 아니라, 팀이 최종 채택한 '조합3' + '다영·민정과 동일한 행개수 6등분 3-Fold'로 통일해서 비교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0020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600200"/>
            <a:ext cx="3886200" cy="96012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0" y="1600200"/>
            <a:ext cx="82296" cy="96012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8" name="Text 5"/>
          <p:cNvSpPr/>
          <p:nvPr/>
        </p:nvSpPr>
        <p:spPr>
          <a:xfrm>
            <a:off x="8001000" y="16733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010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 결정경계로는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비선형 사기패턴을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절반도 못 잡음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0424160" y="1600200"/>
            <a:ext cx="1143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0.4416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772400" y="2697480"/>
            <a:ext cx="3886200" cy="96012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/>
        </p:spPr>
      </p:sp>
      <p:sp>
        <p:nvSpPr>
          <p:cNvPr id="12" name="Shape 9"/>
          <p:cNvSpPr/>
          <p:nvPr/>
        </p:nvSpPr>
        <p:spPr>
          <a:xfrm>
            <a:off x="7772400" y="2697480"/>
            <a:ext cx="82296" cy="96012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3" name="Text 10"/>
          <p:cNvSpPr/>
          <p:nvPr/>
        </p:nvSpPr>
        <p:spPr>
          <a:xfrm>
            <a:off x="8001000" y="27706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01000" y="3063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배깅 구조 한계로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부스팅 계열에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 이상 뒤처짐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0424160" y="2697480"/>
            <a:ext cx="1143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0.9529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7772400" y="3794760"/>
            <a:ext cx="3886200" cy="96012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/>
        </p:spPr>
      </p:sp>
      <p:sp>
        <p:nvSpPr>
          <p:cNvPr id="17" name="Shape 14"/>
          <p:cNvSpPr/>
          <p:nvPr/>
        </p:nvSpPr>
        <p:spPr>
          <a:xfrm>
            <a:off x="7772400" y="3794760"/>
            <a:ext cx="82296" cy="9601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8" name="Text 15"/>
          <p:cNvSpPr/>
          <p:nvPr/>
        </p:nvSpPr>
        <p:spPr>
          <a:xfrm>
            <a:off x="8001000" y="3867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001000" y="4160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성능은 근소 우위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세부기준으로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판가름 필요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424160" y="3794760"/>
            <a:ext cx="1143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0.9751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7772400" y="4892040"/>
            <a:ext cx="3886200" cy="96012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/>
        </p:spPr>
      </p:sp>
      <p:sp>
        <p:nvSpPr>
          <p:cNvPr id="22" name="Shape 19"/>
          <p:cNvSpPr/>
          <p:nvPr/>
        </p:nvSpPr>
        <p:spPr>
          <a:xfrm>
            <a:off x="7772400" y="4892040"/>
            <a:ext cx="82296" cy="96012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23" name="Text 20"/>
          <p:cNvSpPr/>
          <p:nvPr/>
        </p:nvSpPr>
        <p:spPr>
          <a:xfrm>
            <a:off x="8001000" y="49651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001000" y="5257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통계적 동률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효율성 →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채택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0424160" y="4892040"/>
            <a:ext cx="1143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0.9750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탈락 사유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 — 성능 격차가 압도적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E457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0.4416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조합3 Mean PR-AUC (튜닝 후)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977640" y="155448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5C7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0B254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3258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0.975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63440" y="2194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 평균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0" y="123444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2.2배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229600" y="23317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트리 모델이 로지스틱보다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2배 이상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063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이렇게 차이가 날까 — 선형 결정경계의 한계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3474720"/>
            <a:ext cx="11064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Regression은 변수 하나당 계수 하나 — 변수들의 선형 결합으로만 판단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amt가 크면서 동시에 새벽 시간대이면서 동시에 신규 가맹점인 '조합적' 이상 신호를 직접 학습 못 함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세진님 계수 분석(조합3): category_gas_transport(+2.48), category_grocery_net(+2.38) 등 업종 자체가 계수를 지배 — 금액·시간 등 연속변수의 미묘한 상호작용은 계수 크기가 작음(amt +0.99, rolling_sum_amt_1h +0.58 수준)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 + C/penalty/solver 튜닝을 거쳐도 개선폭은 +0.0037에 그침(0.4379→0.4416) — 하이퍼파라미터 문제가 아니라 모델 구조 자체의 한계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62636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6263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탈락 — 구조적 한계, 튜닝으로 해결 불가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탈락 사유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— 배깅 구조의 한계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675120" cy="2468880"/>
        </p:xfrm>
        <a:graphic>
          <a:graphicData uri="http://schemas.openxmlformats.org/drawingml/2006/table">
            <a:tbl>
              <a:tblPr/>
              <a:tblGrid>
                <a:gridCol w="2286000"/>
                <a:gridCol w="1737360"/>
                <a:gridCol w="1280160"/>
                <a:gridCol w="1371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변수조합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3-Fold 평균 PR-AUC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표준편차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조합4 (RF 자체 1위)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안에서는 최고, 그래도 XGB/LGBM 미달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조합3 (팀 표준)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 페이지의 비교 대상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조합1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조합2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조합5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0.9479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8862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조합3 기준: XGBoost(0.9751) · LightGBM(0.9750)보다 0.022 낮음 — RF가 가장 잘하는 조합4를 써도 0.017 격차가 그대로 남음.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498080" y="1280160"/>
            <a:ext cx="4114800" cy="4709160"/>
          </a:xfrm>
          <a:prstGeom prst="roundRect">
            <a:avLst>
              <a:gd name="adj" fmla="val 1778"/>
            </a:avLst>
          </a:prstGeom>
          <a:solidFill>
            <a:srgbClr val="F4F6F9"/>
          </a:solidFill>
          <a:ln/>
        </p:spPr>
      </p:sp>
      <p:sp>
        <p:nvSpPr>
          <p:cNvPr id="7" name="Text 4"/>
          <p:cNvSpPr/>
          <p:nvPr/>
        </p:nvSpPr>
        <p:spPr>
          <a:xfrm>
            <a:off x="77266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배깅은 부스팅에 뒤처지나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2668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(배깅)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26680" y="2286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독립적인 트리 여러 개를 각자 랜덤 샘플로 학습 → 결과를 평균. 트리끼리 서로의 실수를 보정하지 않음.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2668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 (부스팅)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726680" y="34747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 트리가 놓친 오차(=사기 케이스의 미묘한 패턴)를 다음 트리가 집중적으로 다시 학습 → 순차적으로 정교해짐.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26680" y="4343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사기 탐지 데이터 특성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726680" y="46634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정상:사기 = 약 172:1. 극소수 패턴을 잡으려면 '놓친 부분을 다시 보는' 부스팅 구조가 절대적으로 유리.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6263640"/>
            <a:ext cx="4572000" cy="36576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6263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탈락 — 부스팅 계열 대비 구조적으로 불리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성능이 비슷한 경우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이제부터가 진짜 — XGBoost vs LightGBM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조합3 기준 PR-AUC가 사실상 동률이라, 7개 상세기준을 전부 실제로 계산해서 순서대로 판가름함(각 기준 모두 같은 fold·같은 로직으로 XGB/LGBM 동시 산출)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783080" cy="3657600"/>
          </a:xfrm>
          <a:prstGeom prst="roundRect">
            <a:avLst>
              <a:gd name="adj" fmla="val 4103"/>
            </a:avLst>
          </a:prstGeom>
          <a:solidFill>
            <a:srgbClr val="13315C"/>
          </a:solidFill>
          <a:ln/>
        </p:spPr>
      </p:sp>
      <p:sp>
        <p:nvSpPr>
          <p:cNvPr id="6" name="Shape 4"/>
          <p:cNvSpPr/>
          <p:nvPr/>
        </p:nvSpPr>
        <p:spPr>
          <a:xfrm>
            <a:off x="1184148" y="2130552"/>
            <a:ext cx="512064" cy="51206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7" name="Text 5"/>
          <p:cNvSpPr/>
          <p:nvPr/>
        </p:nvSpPr>
        <p:spPr>
          <a:xfrm>
            <a:off x="1184148" y="2130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PR-AUC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5262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통합 기준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347472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D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459736" y="1874520"/>
            <a:ext cx="1783080" cy="3657600"/>
          </a:xfrm>
          <a:prstGeom prst="roundRect">
            <a:avLst>
              <a:gd name="adj" fmla="val 4103"/>
            </a:avLst>
          </a:prstGeom>
          <a:solidFill>
            <a:srgbClr val="13315C"/>
          </a:solidFill>
          <a:ln/>
        </p:spPr>
      </p:sp>
      <p:sp>
        <p:nvSpPr>
          <p:cNvPr id="12" name="Shape 10"/>
          <p:cNvSpPr/>
          <p:nvPr/>
        </p:nvSpPr>
        <p:spPr>
          <a:xfrm>
            <a:off x="3095244" y="2130552"/>
            <a:ext cx="512064" cy="51206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3" name="Text 11"/>
          <p:cNvSpPr/>
          <p:nvPr/>
        </p:nvSpPr>
        <p:spPr>
          <a:xfrm>
            <a:off x="3095244" y="2130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51176" y="278892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안정성 ·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과적합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51176" y="45262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Train-Val 격차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42816" y="347472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D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370832" y="1874520"/>
            <a:ext cx="1783080" cy="3657600"/>
          </a:xfrm>
          <a:prstGeom prst="roundRect">
            <a:avLst>
              <a:gd name="adj" fmla="val 4103"/>
            </a:avLst>
          </a:prstGeom>
          <a:solidFill>
            <a:srgbClr val="13315C"/>
          </a:solidFill>
          <a:ln/>
        </p:spPr>
      </p:sp>
      <p:sp>
        <p:nvSpPr>
          <p:cNvPr id="18" name="Shape 16"/>
          <p:cNvSpPr/>
          <p:nvPr/>
        </p:nvSpPr>
        <p:spPr>
          <a:xfrm>
            <a:off x="5006340" y="2130552"/>
            <a:ext cx="512064" cy="51206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9" name="Text 17"/>
          <p:cNvSpPr/>
          <p:nvPr/>
        </p:nvSpPr>
        <p:spPr>
          <a:xfrm>
            <a:off x="5006340" y="2130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462272" y="278892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Recall=0.93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매칭 비교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62272" y="45262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· FP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53912" y="347472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D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81928" y="1874520"/>
            <a:ext cx="1783080" cy="3657600"/>
          </a:xfrm>
          <a:prstGeom prst="roundRect">
            <a:avLst>
              <a:gd name="adj" fmla="val 4103"/>
            </a:avLst>
          </a:prstGeom>
          <a:solidFill>
            <a:srgbClr val="13315C"/>
          </a:solidFill>
          <a:ln/>
        </p:spPr>
      </p:sp>
      <p:sp>
        <p:nvSpPr>
          <p:cNvPr id="24" name="Shape 22"/>
          <p:cNvSpPr/>
          <p:nvPr/>
        </p:nvSpPr>
        <p:spPr>
          <a:xfrm>
            <a:off x="6917436" y="2130552"/>
            <a:ext cx="512064" cy="51206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5" name="Text 23"/>
          <p:cNvSpPr/>
          <p:nvPr/>
        </p:nvSpPr>
        <p:spPr>
          <a:xfrm>
            <a:off x="6917436" y="2130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373368" y="278892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임계값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안정성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73368" y="45262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Fold별 흔들림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65008" y="347472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D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193024" y="1874520"/>
            <a:ext cx="1783080" cy="3657600"/>
          </a:xfrm>
          <a:prstGeom prst="roundRect">
            <a:avLst>
              <a:gd name="adj" fmla="val 4103"/>
            </a:avLst>
          </a:prstGeom>
          <a:solidFill>
            <a:srgbClr val="13315C"/>
          </a:solidFill>
          <a:ln/>
        </p:spPr>
      </p:sp>
      <p:sp>
        <p:nvSpPr>
          <p:cNvPr id="30" name="Shape 28"/>
          <p:cNvSpPr/>
          <p:nvPr/>
        </p:nvSpPr>
        <p:spPr>
          <a:xfrm>
            <a:off x="8828532" y="2130552"/>
            <a:ext cx="512064" cy="51206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31" name="Text 29"/>
          <p:cNvSpPr/>
          <p:nvPr/>
        </p:nvSpPr>
        <p:spPr>
          <a:xfrm>
            <a:off x="8828532" y="2130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284464" y="278892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확률보정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84464" y="45262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976104" y="347472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D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0104120" y="1874520"/>
            <a:ext cx="1783080" cy="3657600"/>
          </a:xfrm>
          <a:prstGeom prst="roundRect">
            <a:avLst>
              <a:gd name="adj" fmla="val 4103"/>
            </a:avLst>
          </a:prstGeom>
          <a:solidFill>
            <a:srgbClr val="13315C"/>
          </a:solidFill>
          <a:ln/>
        </p:spPr>
      </p:sp>
      <p:sp>
        <p:nvSpPr>
          <p:cNvPr id="36" name="Shape 34"/>
          <p:cNvSpPr/>
          <p:nvPr/>
        </p:nvSpPr>
        <p:spPr>
          <a:xfrm>
            <a:off x="10739628" y="2130552"/>
            <a:ext cx="512064" cy="51206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37" name="Text 35"/>
          <p:cNvSpPr/>
          <p:nvPr/>
        </p:nvSpPr>
        <p:spPr>
          <a:xfrm>
            <a:off x="10739628" y="2130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0195560" y="278892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효율성 ·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재현성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195560" y="45262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타이브레이커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방법론: 다영·민정과 동일한 6등분 3-Fold로 XGBoost·LightGBM 둘 다 재학습 → Fold별 Train/Val 예측 + 3-Fold Validation을 통합한 OOF 예측까지 전부 새로 계산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 1 · 평균 PR-AUC (OOF 통합)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3-Fold Validation을 전부 합쳐서 다시 비교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Fold별 평균이 아니라, 3개 Fold의 Validation 예측확률을 전부 모은 OOF(Out-of-Fold)로 산출 — 다영님이 요청한 'OOF 통합 비교' 방식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00200"/>
          <a:ext cx="57607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675120" y="1600200"/>
            <a:ext cx="4937760" cy="4114800"/>
          </a:xfrm>
          <a:prstGeom prst="roundRect">
            <a:avLst>
              <a:gd name="adj" fmla="val 1778"/>
            </a:avLst>
          </a:prstGeom>
          <a:solidFill>
            <a:srgbClr val="F4F6F9"/>
          </a:solidFill>
          <a:ln/>
        </p:spPr>
      </p:sp>
      <p:sp>
        <p:nvSpPr>
          <p:cNvPr id="7" name="Text 4"/>
          <p:cNvSpPr/>
          <p:nvPr/>
        </p:nvSpPr>
        <p:spPr>
          <a:xfrm>
            <a:off x="6949440" y="18288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0.000657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6949440" y="25146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PR-AUC 차이 (LightGBM이 근소 우위)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949440" y="3063240"/>
            <a:ext cx="43891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Fold별 Val PR-AUC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1: XGB 0.9715  |  LGBM 0.9715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2: XGB 0.9781  |  LGBM 0.9785</a:t>
            </a:r>
            <a:endParaRPr lang="en-US" sz="12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3: XGB 0.9762  |  LGBM 0.9735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이전 fold-평균 비교에선 XGB가 근소 우위였는데, OOF로 다시 보니 LGBM이 근소 우위 — 그만큼 둘의 격차가 계산 방식에 따라 뒤집힐 정도로 미미하다는 뜻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5943600"/>
            <a:ext cx="5394960" cy="36576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5943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판정: 통계적으로 무의미한 차이 → 다음 기준으로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 2 · 시간순 안정성 &amp; 과적합 여부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Train-Val 격차, 뒤쪽 Fold 성능 — 둘 다 문제없음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675120" cy="356616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  <a:gridCol w="1280160"/>
                <a:gridCol w="1188720"/>
                <a:gridCol w="1280160"/>
              </a:tblGrid>
              <a:tr h="50945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PR-AUC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PR-AUC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격차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 Fold1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 Fold2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 Fold3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LGBM Fold1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LGBM Fold2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LGBM Fold3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280160"/>
            <a:ext cx="4114800" cy="4709160"/>
          </a:xfrm>
          <a:prstGeom prst="roundRect">
            <a:avLst>
              <a:gd name="adj" fmla="val 1778"/>
            </a:avLst>
          </a:prstGeom>
          <a:solidFill>
            <a:srgbClr val="F4F6F9"/>
          </a:solidFill>
          <a:ln/>
        </p:spPr>
      </p:sp>
      <p:sp>
        <p:nvSpPr>
          <p:cNvPr id="6" name="Text 3"/>
          <p:cNvSpPr/>
          <p:nvPr/>
        </p:nvSpPr>
        <p:spPr>
          <a:xfrm>
            <a:off x="77266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726680" y="1920240"/>
            <a:ext cx="3657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Train-Val 격차</a:t>
            </a:r>
            <a:endParaRPr lang="en-US" sz="125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 평균 0.0218, LGBM 평균 0.0218 — 완전히 동일한 수준. 둘 다 Train PR-AUC가 0.99대까지 올라가지만(트리 앙상블 특성상 자연스러움), Val 성능이 뒤쪽 Fold로 갈수록 무너지지 않음(오히려 Fold2·3이 Fold1보다 높음) → 극단적 과적합 징후 없음.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Iteration 편차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 변동폭 786그루(711~1497), LGBM 변동폭 419그루(1140~1559) — LightGBM이 fold가 바뀌어도 더 일정한 트리 개수에서 수렴.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6172200"/>
            <a:ext cx="6400800" cy="36576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6172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판정: 과적합 무승부 · 반복횟수 안정성은 LGBM 근소 우위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 3 · RECALL = 0.93 매칭 비교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탐지율을 똑같이 맞추고 오탐만 비교하면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예측확률에서 Recall이 0.93 이상이 되는 최고 임계값을 각자 찾아 Precision·FP를 비교 (다영님이 예시로 든 방식 그대로)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035040" cy="301752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임계값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0" y="1600200"/>
            <a:ext cx="4754880" cy="3017520"/>
          </a:xfrm>
          <a:prstGeom prst="roundRect">
            <a:avLst>
              <a:gd name="adj" fmla="val 2424"/>
            </a:avLst>
          </a:prstGeom>
          <a:solidFill>
            <a:srgbClr val="F4F6F9"/>
          </a:solidFill>
          <a:ln/>
        </p:spPr>
      </p:sp>
      <p:sp>
        <p:nvSpPr>
          <p:cNvPr id="7" name="Text 4"/>
          <p:cNvSpPr/>
          <p:nvPr/>
        </p:nvSpPr>
        <p:spPr>
          <a:xfrm>
            <a:off x="7086600" y="17830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-10건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086600" y="23317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Recall(≈0.930)에서 XGBoost가 오탐(FP) 10건 더 적음 (194 vs 204, 64만 건 중)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086600" y="33832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반대로 FN(놓친 사기)은 XGB 257 vs LGBM 256으로 사실상 동일 — 이 기준 하나만 놓고 보면 XGBoost가 근소하게 유리.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48463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6E0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49834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10건 차이는 64만 건 검증표본 대비 0.0016%p 수준 — 실무적으로 '어느 쪽이 확실히 낫다'고 말하긴 어려운 크기지만, 데이터로 남는 첫 번째 XGBoost 우위 포인트.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612648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6126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판정: XGBoost 근소 우위 (오탐 10건 적음)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 4 · 임계값 안정성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Fold마다 '최적 임계값'이 얼마나 흔들리나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Fold를 따로 떼어 그 Fold 안에서만 F1이 최대가 되는 임계값을 구함 — 시기가 달라져도 비슷한 지점에서 작동해야 실무에서 믿을 수 있음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00200"/>
          <a:ext cx="65836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600200"/>
            <a:ext cx="4206240" cy="3931920"/>
          </a:xfrm>
          <a:prstGeom prst="roundRect">
            <a:avLst>
              <a:gd name="adj" fmla="val 1860"/>
            </a:avLst>
          </a:prstGeom>
          <a:solidFill>
            <a:srgbClr val="FFC857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0" y="18745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3배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7680960" y="28346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변동폭 0.0545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변동폭 0.0178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80960" y="374904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XGBoost는 Fold1에서만 최적 임계값이 0.909로 뚝 떨어짐(나머지는 0.95대) — LightGBM은 3개 Fold 내내 0.95~0.97 사이로 일정.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5852160"/>
            <a:ext cx="4754880" cy="365760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5852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판정: 임계값 안정성 — LightGBM 뚜렷한 우위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 4-2 · 임계값 민감도  /  기준 5 · 확률보정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선택 임계값 근처는 완만한가, 확률은 믿을만한가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임계값 ±0.05 근방 F1 변화 (완만할수록 안전)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48056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둘 다 선택 지점 근방(±0.02)에서는 완만하게 유지되다가, +0.05만큼 과감히 올리면 둘 다 급락(FN 급증) — 패턴이 거의 동일해서 이 기준은 우열 없음.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355080" y="123444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 (OOF, 낮을수록 확률이 실제 위험도에 가까움)</a:t>
            </a:r>
            <a:endParaRPr lang="en-US" sz="125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355080" y="1645920"/>
          <a:ext cx="5257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6355080" y="4160520"/>
            <a:ext cx="525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XGBoost가 약 27% 더 낮음 — 예측확률을 '위험 등급'처럼 그대로 해석하려면 XGBoost 쪽이 더 신뢰할 수 있는 확률.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5486400"/>
            <a:ext cx="5212080" cy="36576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11" name="Text 7"/>
          <p:cNvSpPr/>
          <p:nvPr/>
        </p:nvSpPr>
        <p:spPr>
          <a:xfrm>
            <a:off x="548640" y="5486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판정: 민감도 무승부 · 확률보정은 XGBoost 우위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8640" y="5989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참고: 팀 서비스는 현재 임계값 하나로 이상거래 여부만 판정 — 확률값 자체를 위험등급으로 노출할 계획이 아니라면 이 기준의 실무 영향은 제한적.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 6 · 효율성 &amp; 재현성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성능이 갈리지 않는다면, 마지막은 실무성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24328" cy="3566160"/>
          </a:xfrm>
          <a:prstGeom prst="roundRect">
            <a:avLst>
              <a:gd name="adj" fmla="val 2787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54480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 처리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23500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LightGBM: 네이티브 지원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원-핫 인코딩 필요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235000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조합3 기준 원-핫 시 13열 추가 — 변수 늘어날수록 XGBoost 파이프라인이 더 무거워짐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10128" y="1371600"/>
            <a:ext cx="2624328" cy="3566160"/>
          </a:xfrm>
          <a:prstGeom prst="roundRect">
            <a:avLst>
              <a:gd name="adj" fmla="val 2787"/>
            </a:avLst>
          </a:prstGeom>
          <a:solidFill>
            <a:srgbClr val="13315C"/>
          </a:solidFill>
          <a:ln/>
        </p:spPr>
      </p:sp>
      <p:sp>
        <p:nvSpPr>
          <p:cNvPr id="9" name="Text 7"/>
          <p:cNvSpPr/>
          <p:nvPr/>
        </p:nvSpPr>
        <p:spPr>
          <a:xfrm>
            <a:off x="3447288" y="1554480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시간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47288" y="2103120"/>
            <a:ext cx="23500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3-Fold 9회 학습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(3개 후보 × 3fold) ≈ 19분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47288" y="3200400"/>
            <a:ext cx="235000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히스토그램 기반 리프단위(leaf-wise) 성장이라 대용량 데이터에서 상대적으로 빠름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71616" y="1371600"/>
            <a:ext cx="2624328" cy="3566160"/>
          </a:xfrm>
          <a:prstGeom prst="roundRect">
            <a:avLst>
              <a:gd name="adj" fmla="val 2787"/>
            </a:avLst>
          </a:prstGeom>
          <a:solidFill>
            <a:srgbClr val="0B2545"/>
          </a:solidFill>
          <a:ln/>
        </p:spPr>
      </p:sp>
      <p:sp>
        <p:nvSpPr>
          <p:cNvPr id="13" name="Text 11"/>
          <p:cNvSpPr/>
          <p:nvPr/>
        </p:nvSpPr>
        <p:spPr>
          <a:xfrm>
            <a:off x="6208776" y="1554480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파이프라인 복잡도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08776" y="2103120"/>
            <a:ext cx="23500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LightGBM: OneHotEncoder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불필요 → 코드/누수 리스크 감소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08776" y="3200400"/>
            <a:ext cx="235000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Fold마다 인코더를 별도로 fit할 필요가 없어 leak 관리 지점이 하나 줄어듦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833104" y="1371600"/>
            <a:ext cx="2624328" cy="3566160"/>
          </a:xfrm>
          <a:prstGeom prst="roundRect">
            <a:avLst>
              <a:gd name="adj" fmla="val 2787"/>
            </a:avLst>
          </a:prstGeom>
          <a:solidFill>
            <a:srgbClr val="13315C"/>
          </a:solidFill>
          <a:ln/>
        </p:spPr>
      </p:sp>
      <p:sp>
        <p:nvSpPr>
          <p:cNvPr id="17" name="Text 15"/>
          <p:cNvSpPr/>
          <p:nvPr/>
        </p:nvSpPr>
        <p:spPr>
          <a:xfrm>
            <a:off x="8970264" y="1554480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관리 용이성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70264" y="2103120"/>
            <a:ext cx="23500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조합3 최종 하이퍼파라미터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OOF 임계값까지 확정 완료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70264" y="3200400"/>
            <a:ext cx="235000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재현성 있는 산출물(JSON 설정 저장)까지 갖춰진 상태 — XGBoost는 이 단계 미완료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Fold별 소요시간(민정님 노트북 실측): 조합1 5.7분 · 조합3 5.2분 · 조합5 4.6분 (3-Fold 합산) — 튜닝·재학습을 반복하는 팀 워크플로우에 부담이 적음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943600"/>
            <a:ext cx="4023360" cy="365760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943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판정: 효율성·재현성 — LightGBM 우위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7개 기준 스코어보드 — 그래도 LightGBM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783080" cy="2834640"/>
          </a:xfrm>
          <a:prstGeom prst="roundRect">
            <a:avLst>
              <a:gd name="adj" fmla="val 4103"/>
            </a:avLst>
          </a:prstGeom>
          <a:solidFill>
            <a:srgbClr val="13315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평균 PR-AUC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(OOF)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3730752"/>
            <a:ext cx="1417320" cy="402336"/>
          </a:xfrm>
          <a:prstGeom prst="roundRect">
            <a:avLst>
              <a:gd name="adj" fmla="val 45455"/>
            </a:avLst>
          </a:prstGeom>
          <a:solidFill>
            <a:srgbClr val="5C759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73075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무승부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59736" y="1463040"/>
            <a:ext cx="1783080" cy="2834640"/>
          </a:xfrm>
          <a:prstGeom prst="roundRect">
            <a:avLst>
              <a:gd name="adj" fmla="val 4103"/>
            </a:avLst>
          </a:prstGeom>
          <a:solidFill>
            <a:srgbClr val="13315C"/>
          </a:solidFill>
          <a:ln/>
        </p:spPr>
      </p:sp>
      <p:sp>
        <p:nvSpPr>
          <p:cNvPr id="9" name="Text 7"/>
          <p:cNvSpPr/>
          <p:nvPr/>
        </p:nvSpPr>
        <p:spPr>
          <a:xfrm>
            <a:off x="2551176" y="16459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Fold안정성 ·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과적합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642616" y="3730752"/>
            <a:ext cx="1417320" cy="402336"/>
          </a:xfrm>
          <a:prstGeom prst="roundRect">
            <a:avLst>
              <a:gd name="adj" fmla="val 45455"/>
            </a:avLst>
          </a:prstGeom>
          <a:solidFill>
            <a:srgbClr val="5C7594"/>
          </a:solidFill>
          <a:ln/>
        </p:spPr>
      </p:sp>
      <p:sp>
        <p:nvSpPr>
          <p:cNvPr id="11" name="Text 9"/>
          <p:cNvSpPr/>
          <p:nvPr/>
        </p:nvSpPr>
        <p:spPr>
          <a:xfrm>
            <a:off x="2642616" y="373075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무승부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70832" y="1463040"/>
            <a:ext cx="1783080" cy="2834640"/>
          </a:xfrm>
          <a:prstGeom prst="roundRect">
            <a:avLst>
              <a:gd name="adj" fmla="val 4103"/>
            </a:avLst>
          </a:prstGeom>
          <a:solidFill>
            <a:srgbClr val="13315C"/>
          </a:solidFill>
          <a:ln/>
        </p:spPr>
      </p:sp>
      <p:sp>
        <p:nvSpPr>
          <p:cNvPr id="13" name="Text 11"/>
          <p:cNvSpPr/>
          <p:nvPr/>
        </p:nvSpPr>
        <p:spPr>
          <a:xfrm>
            <a:off x="4462272" y="16459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Recall=0.93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매칭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53712" y="3730752"/>
            <a:ext cx="1417320" cy="402336"/>
          </a:xfrm>
          <a:prstGeom prst="roundRect">
            <a:avLst>
              <a:gd name="adj" fmla="val 45455"/>
            </a:avLst>
          </a:prstGeom>
          <a:solidFill>
            <a:srgbClr val="8DA9C4"/>
          </a:solidFill>
          <a:ln/>
        </p:spPr>
      </p:sp>
      <p:sp>
        <p:nvSpPr>
          <p:cNvPr id="15" name="Text 13"/>
          <p:cNvSpPr/>
          <p:nvPr/>
        </p:nvSpPr>
        <p:spPr>
          <a:xfrm>
            <a:off x="4553712" y="373075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81928" y="1463040"/>
            <a:ext cx="1783080" cy="2834640"/>
          </a:xfrm>
          <a:prstGeom prst="roundRect">
            <a:avLst>
              <a:gd name="adj" fmla="val 4103"/>
            </a:avLst>
          </a:prstGeom>
          <a:solidFill>
            <a:srgbClr val="13315C"/>
          </a:solidFill>
          <a:ln/>
        </p:spPr>
      </p:sp>
      <p:sp>
        <p:nvSpPr>
          <p:cNvPr id="17" name="Text 15"/>
          <p:cNvSpPr/>
          <p:nvPr/>
        </p:nvSpPr>
        <p:spPr>
          <a:xfrm>
            <a:off x="6373368" y="16459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임계값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안정성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64808" y="3730752"/>
            <a:ext cx="1417320" cy="402336"/>
          </a:xfrm>
          <a:prstGeom prst="roundRect">
            <a:avLst>
              <a:gd name="adj" fmla="val 45455"/>
            </a:avLst>
          </a:prstGeom>
          <a:solidFill>
            <a:srgbClr val="FFC857"/>
          </a:solidFill>
          <a:ln/>
        </p:spPr>
      </p:sp>
      <p:sp>
        <p:nvSpPr>
          <p:cNvPr id="19" name="Text 17"/>
          <p:cNvSpPr/>
          <p:nvPr/>
        </p:nvSpPr>
        <p:spPr>
          <a:xfrm>
            <a:off x="6464808" y="373075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93024" y="1463040"/>
            <a:ext cx="1783080" cy="2834640"/>
          </a:xfrm>
          <a:prstGeom prst="roundRect">
            <a:avLst>
              <a:gd name="adj" fmla="val 4103"/>
            </a:avLst>
          </a:prstGeom>
          <a:solidFill>
            <a:srgbClr val="13315C"/>
          </a:solidFill>
          <a:ln/>
        </p:spPr>
      </p:sp>
      <p:sp>
        <p:nvSpPr>
          <p:cNvPr id="21" name="Text 19"/>
          <p:cNvSpPr/>
          <p:nvPr/>
        </p:nvSpPr>
        <p:spPr>
          <a:xfrm>
            <a:off x="8284464" y="16459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확률보정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(Brier)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375904" y="3730752"/>
            <a:ext cx="1417320" cy="402336"/>
          </a:xfrm>
          <a:prstGeom prst="roundRect">
            <a:avLst>
              <a:gd name="adj" fmla="val 45455"/>
            </a:avLst>
          </a:prstGeom>
          <a:solidFill>
            <a:srgbClr val="8DA9C4"/>
          </a:solidFill>
          <a:ln/>
        </p:spPr>
      </p:sp>
      <p:sp>
        <p:nvSpPr>
          <p:cNvPr id="23" name="Text 21"/>
          <p:cNvSpPr/>
          <p:nvPr/>
        </p:nvSpPr>
        <p:spPr>
          <a:xfrm>
            <a:off x="8375904" y="373075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104120" y="1463040"/>
            <a:ext cx="1783080" cy="2834640"/>
          </a:xfrm>
          <a:prstGeom prst="roundRect">
            <a:avLst>
              <a:gd name="adj" fmla="val 4103"/>
            </a:avLst>
          </a:prstGeom>
          <a:solidFill>
            <a:srgbClr val="13315C"/>
          </a:solidFill>
          <a:ln/>
        </p:spPr>
      </p:sp>
      <p:sp>
        <p:nvSpPr>
          <p:cNvPr id="25" name="Text 23"/>
          <p:cNvSpPr/>
          <p:nvPr/>
        </p:nvSpPr>
        <p:spPr>
          <a:xfrm>
            <a:off x="10195560" y="16459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효율성 ·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재현성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0287000" y="3730752"/>
            <a:ext cx="1417320" cy="402336"/>
          </a:xfrm>
          <a:prstGeom prst="roundRect">
            <a:avLst>
              <a:gd name="adj" fmla="val 45455"/>
            </a:avLst>
          </a:prstGeom>
          <a:solidFill>
            <a:srgbClr val="FFC857"/>
          </a:solidFill>
          <a:ln/>
        </p:spPr>
      </p:sp>
      <p:sp>
        <p:nvSpPr>
          <p:cNvPr id="27" name="Text 25"/>
          <p:cNvSpPr/>
          <p:nvPr/>
        </p:nvSpPr>
        <p:spPr>
          <a:xfrm>
            <a:off x="10287000" y="373075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57200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FC857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709160"/>
            <a:ext cx="105156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 기준 중 2개 무승부, XGBoost 2개(Recall매칭·확률보정), LightGBM 2개(임계값안정성·효율성) — 숫자로는 정확히 동률.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그런데 XGBoost가 앞선 두 지표(오탐 10건 차이, Brier score 0.0004 차이)는 절대적 크기가 작고, LightGBM이 앞선 두 지표(임계값 안정성 3배, 학습 파이프라인 단순함)는 '운영 중 재학습·튜닝을 반복해야 하는' 팀 워크플로우에 더 직접적으로 영향 → LightGBM 최종 채택.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SPEC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 + 조합3 — 최종 확정 스펙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5120640" cy="4937760"/>
        </p:xfrm>
        <a:graphic>
          <a:graphicData uri="http://schemas.openxmlformats.org/drawingml/2006/table">
            <a:tbl>
              <a:tblPr/>
              <a:tblGrid>
                <a:gridCol w="3017520"/>
                <a:gridCol w="21031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하이퍼파라미터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확정값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num_leaves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min_child_samples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learning_rate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colsample_bytree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reg_alpha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reg_lambda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 (확정)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scale_pos_weight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≈171.7 (계산식)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임계값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0.9289 (OOF F1최대)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35040" y="128016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OOF Validation 성능 (3-Fold 통합, 648,338건)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035040" y="1737360"/>
            <a:ext cx="1280160" cy="1143000"/>
          </a:xfrm>
          <a:prstGeom prst="roundRect">
            <a:avLst>
              <a:gd name="adj" fmla="val 4800"/>
            </a:avLst>
          </a:prstGeom>
          <a:solidFill>
            <a:srgbClr val="0B2545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0" y="1810512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0.9768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035040" y="2377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406640" y="1737360"/>
            <a:ext cx="1280160" cy="1143000"/>
          </a:xfrm>
          <a:prstGeom prst="roundRect">
            <a:avLst>
              <a:gd name="adj" fmla="val 4800"/>
            </a:avLst>
          </a:prstGeom>
          <a:solidFill>
            <a:srgbClr val="0B2545"/>
          </a:solidFill>
          <a:ln/>
        </p:spPr>
      </p:sp>
      <p:sp>
        <p:nvSpPr>
          <p:cNvPr id="10" name="Text 7"/>
          <p:cNvSpPr/>
          <p:nvPr/>
        </p:nvSpPr>
        <p:spPr>
          <a:xfrm>
            <a:off x="7406640" y="1810512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0.9552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406640" y="2377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778240" y="1737360"/>
            <a:ext cx="1280160" cy="1143000"/>
          </a:xfrm>
          <a:prstGeom prst="roundRect">
            <a:avLst>
              <a:gd name="adj" fmla="val 4800"/>
            </a:avLst>
          </a:prstGeom>
          <a:solidFill>
            <a:srgbClr val="0B2545"/>
          </a:solidFill>
          <a:ln/>
        </p:spPr>
      </p:sp>
      <p:sp>
        <p:nvSpPr>
          <p:cNvPr id="13" name="Text 10"/>
          <p:cNvSpPr/>
          <p:nvPr/>
        </p:nvSpPr>
        <p:spPr>
          <a:xfrm>
            <a:off x="8778240" y="1810512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0.9334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778240" y="2377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0149840" y="1737360"/>
            <a:ext cx="1280160" cy="1143000"/>
          </a:xfrm>
          <a:prstGeom prst="roundRect">
            <a:avLst>
              <a:gd name="adj" fmla="val 4800"/>
            </a:avLst>
          </a:prstGeom>
          <a:solidFill>
            <a:srgbClr val="0B2545"/>
          </a:solidFill>
          <a:ln/>
        </p:spPr>
      </p:sp>
      <p:sp>
        <p:nvSpPr>
          <p:cNvPr id="16" name="Text 13"/>
          <p:cNvSpPr/>
          <p:nvPr/>
        </p:nvSpPr>
        <p:spPr>
          <a:xfrm>
            <a:off x="10149840" y="1810512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0.9442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0149840" y="2377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035040" y="30632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혼동행렬 (OOF 통합, 이상거래 3,679건 중)</a:t>
            </a:r>
            <a:endParaRPr lang="en-US" sz="125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3429000"/>
          <a:ext cx="5577840" cy="1188720"/>
        </p:xfrm>
        <a:graphic>
          <a:graphicData uri="http://schemas.openxmlformats.org/drawingml/2006/table">
            <a:tbl>
              <a:tblPr/>
              <a:tblGrid>
                <a:gridCol w="1645920"/>
                <a:gridCol w="1965960"/>
                <a:gridCol w="196596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예측: 정상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예측: 사기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실제: 정상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 644,498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161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실제: 사기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 245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3,434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6035040" y="4846320"/>
            <a:ext cx="5577840" cy="1143000"/>
          </a:xfrm>
          <a:prstGeom prst="roundRect">
            <a:avLst>
              <a:gd name="adj" fmla="val 6400"/>
            </a:avLst>
          </a:prstGeom>
          <a:solidFill>
            <a:srgbClr val="FDECEA"/>
          </a:solidFill>
          <a:ln/>
        </p:spPr>
      </p:sp>
      <p:sp>
        <p:nvSpPr>
          <p:cNvPr id="21" name="Text 17"/>
          <p:cNvSpPr/>
          <p:nvPr/>
        </p:nvSpPr>
        <p:spPr>
          <a:xfrm>
            <a:off x="6217920" y="4956048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미완료: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Test셋(선정·튜닝에 전혀 안 쓴 홀드아웃) 평가는 아직 진행 전 — 위 수치는 전부 Validation(OOF) 기준. 5단계('최종 학습 및 Test 평가')에서 test셋 재구축 후 마지막으로 한 번 측정 예정.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465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9154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4개 알고리즘 최종 순위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4206240"/>
        </p:xfrm>
        <a:graphic>
          <a:graphicData uri="http://schemas.openxmlformats.org/drawingml/2006/table">
            <a:tbl>
              <a:tblPr/>
              <a:tblGrid>
                <a:gridCol w="914400"/>
                <a:gridCol w="2194560"/>
                <a:gridCol w="2377440"/>
                <a:gridCol w="55778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순위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알고리즘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조합3 OOF PR-AUC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결론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0.9746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(최종 확정 0.9768)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최종 채택 — 6개 세부기준 중 2승, 임계값 안정성·효율성이 팀 운영에 더 중요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0.9739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성능 통계적 동률, 6개 기준 중 2승(Recall매칭·확률보정) — 유력한 대안, 우열 아닌 근소 차이로 2위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0.9529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배깅 구조 한계로 부스팅 계열에 0.02+ 뒤처짐 — 탈락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선형모델 구조적 한계 — 압도적 격차로 탈락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54874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Company>PptxGenJS</Company>
  <DocSecurity>0</DocSecurity>
  <HyperlinksChanged>false</HyperlinksChanged>
  <Lines>0</Lines>
  <LinksUpToDate>false</LinksUpToDate>
  <Pages>16</Pages>
  <Paragraphs>0</Paragraphs>
  <Words>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PptxGenJS</dc:creator>
  <cp:lastModifiedBy>정다영</cp:lastModifiedBy>
  <dc:title>PptxGenJS Presentation</dc:title>
  <dc:subject>PptxGenJS Presentation</dc:subject>
  <cp:version>11.115.227.56384</cp:version>
  <dcterms:modified xsi:type="dcterms:W3CDTF">2026-08-13T18:06:21Z</dcterms:modified>
</cp:coreProperties>
</file>