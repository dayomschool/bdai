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 autoCompressPictures="0">
  <p:sldMasterIdLst>
    <p:sldMasterId id="2147483660" r:id="rId14"/>
  </p:sld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0" orient="horz" pos="2159" userDrawn="1">
          <p15:clr>
            <a:srgbClr val="A4A3A4"/>
          </p15:clr>
        </p15:guide>
        <p15:guide id="1" pos="28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59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printerSettings" Target="printerSettings/printerSettings1.bin"></Relationship><Relationship Id="rId2" Type="http://schemas.openxmlformats.org/officeDocument/2006/relationships/tableStyles" Target="tableStyles.xml"></Relationship><Relationship Id="rId14" Type="http://schemas.openxmlformats.org/officeDocument/2006/relationships/slideMaster" Target="slideMasters/slideMaster1.xml"></Relationship><Relationship Id="rId15" Type="http://schemas.openxmlformats.org/officeDocument/2006/relationships/theme" Target="theme/theme1.xml"></Relationship><Relationship Id="rId16" Type="http://schemas.openxmlformats.org/officeDocument/2006/relationships/slide" Target="slides/slide1.xml"></Relationship><Relationship Id="rId17" Type="http://schemas.openxmlformats.org/officeDocument/2006/relationships/slide" Target="slides/slide2.xml"></Relationship><Relationship Id="rId18" Type="http://schemas.openxmlformats.org/officeDocument/2006/relationships/slide" Target="slides/slide3.xml"></Relationship><Relationship Id="rId19" Type="http://schemas.openxmlformats.org/officeDocument/2006/relationships/slide" Target="slides/slide4.xml"></Relationship><Relationship Id="rId20" Type="http://schemas.openxmlformats.org/officeDocument/2006/relationships/slide" Target="slides/slide5.xml"></Relationship><Relationship Id="rId21" Type="http://schemas.openxmlformats.org/officeDocument/2006/relationships/slide" Target="slides/slide6.xml"></Relationship><Relationship Id="rId22" Type="http://schemas.openxmlformats.org/officeDocument/2006/relationships/slide" Target="slides/slide7.xml"></Relationship><Relationship Id="rId23" Type="http://schemas.openxmlformats.org/officeDocument/2006/relationships/slide" Target="slides/slide8.xml"></Relationship><Relationship Id="rId24" Type="http://schemas.openxmlformats.org/officeDocument/2006/relationships/slide" Target="slides/slide9.xml"></Relationship><Relationship Id="rId25" Type="http://schemas.openxmlformats.org/officeDocument/2006/relationships/slide" Target="slides/slide10.xml"></Relationship><Relationship Id="rId26" Type="http://schemas.openxmlformats.org/officeDocument/2006/relationships/slide" Target="slides/slide11.xml"></Relationship><Relationship Id="rId27" Type="http://schemas.openxmlformats.org/officeDocument/2006/relationships/slide" Target="slides/slide12.xml"></Relationship><Relationship Id="rId28" Type="http://schemas.openxmlformats.org/officeDocument/2006/relationships/slide" Target="slides/slide13.xml"></Relationship><Relationship Id="rId29" Type="http://schemas.openxmlformats.org/officeDocument/2006/relationships/slide" Target="slides/slide14.xml"></Relationship><Relationship Id="rId30" Type="http://schemas.openxmlformats.org/officeDocument/2006/relationships/slide" Target="slides/slide15.xml"></Relationship><Relationship Id="rId31" Type="http://schemas.openxmlformats.org/officeDocument/2006/relationships/slide" Target="slides/slide16.xml"></Relationship><Relationship Id="rId32" Type="http://schemas.openxmlformats.org/officeDocument/2006/relationships/viewProps" Target="viewProps.xml"></Relationship><Relationship Id="rId33" Type="http://schemas.openxmlformats.org/officeDocument/2006/relationships/presProps" Target="presProps.xml"></Relationship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1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XGBoost 변수조합 ver2</a:t>
            </a:r>
          </a:p>
          <a:p>
            <a:pPr>
              <a:spcBef>
                <a:spcPts val="1400"/>
              </a:spcBef>
              <a:defRPr sz="1900">
                <a:solidFill>
                  <a:srgbClr val="2E5BB8"/>
                </a:solidFill>
              </a:defRPr>
            </a:pPr>
            <a:r>
              <a:t>베이스라인 → 전진선택 → 후진제거로 최적 변수조합 찾기 (전체 과정)</a:t>
            </a:r>
          </a:p>
          <a:p>
            <a:pPr>
              <a:spcBef>
                <a:spcPts val="1000"/>
              </a:spcBef>
              <a:defRPr sz="1400">
                <a:solidFill>
                  <a:srgbClr val="555555"/>
                </a:solidFill>
              </a:defRPr>
            </a:pPr>
            <a:r>
              <a:t>담당: 다영 (랜덤포레스트) — XGBoost로 방법론 검증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74519"/>
            <a:ext cx="2743200" cy="3810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222222"/>
                </a:solidFill>
              </a:defRPr>
            </a:pPr>
            <a:r>
              <a:t>1. ver1의 한계 — 왜 ver2가 필요했나</a:t>
            </a:r>
          </a:p>
          <a:p>
            <a:pPr>
              <a:spcAft>
                <a:spcPts val="1300"/>
              </a:spcAft>
              <a:defRPr sz="1900" b="0">
                <a:solidFill>
                  <a:srgbClr val="222222"/>
                </a:solidFill>
              </a:defRPr>
            </a:pPr>
            <a:r>
              <a:t>2. ver2 방법론 — 베이스라인→전진선택→후진제거</a:t>
            </a:r>
          </a:p>
          <a:p>
            <a:pPr>
              <a:spcAft>
                <a:spcPts val="1300"/>
              </a:spcAft>
              <a:defRPr sz="1900" b="0">
                <a:solidFill>
                  <a:srgbClr val="222222"/>
                </a:solidFill>
              </a:defRPr>
            </a:pPr>
            <a:r>
              <a:t>3. XGBoost 조기종료(Early Stopping)</a:t>
            </a:r>
          </a:p>
          <a:p>
            <a:pPr>
              <a:spcAft>
                <a:spcPts val="1300"/>
              </a:spcAft>
              <a:defRPr sz="1900" b="0">
                <a:solidFill>
                  <a:srgbClr val="222222"/>
                </a:solidFill>
              </a:defRPr>
            </a:pPr>
            <a:r>
              <a:t>4. 실험 설계 — 데이터 3등분 + 후보 27개</a:t>
            </a:r>
          </a:p>
          <a:p>
            <a:pPr>
              <a:spcAft>
                <a:spcPts val="1300"/>
              </a:spcAft>
              <a:defRPr sz="1900" b="0">
                <a:solidFill>
                  <a:srgbClr val="222222"/>
                </a:solidFill>
              </a:defRPr>
            </a:pPr>
            <a:r>
              <a:t>5. STEP 1~4 결과 — 임계값 탐색부터 최종 변수 확정까지</a:t>
            </a:r>
          </a:p>
          <a:p>
            <a:pPr>
              <a:spcAft>
                <a:spcPts val="1300"/>
              </a:spcAft>
              <a:defRPr sz="1900" b="0">
                <a:solidFill>
                  <a:srgbClr val="222222"/>
                </a:solidFill>
              </a:defRPr>
            </a:pPr>
            <a:r>
              <a:t>6. 최종 결과에서 발견된 의심 지점</a:t>
            </a:r>
          </a:p>
          <a:p>
            <a:pPr>
              <a:spcAft>
                <a:spcPts val="1300"/>
              </a:spcAft>
              <a:defRPr sz="1900" b="0">
                <a:solidFill>
                  <a:srgbClr val="222222"/>
                </a:solidFill>
              </a:defRPr>
            </a:pPr>
            <a:r>
              <a:t>7. 검증 — 데이터 누수 확인 과정</a:t>
            </a:r>
          </a:p>
          <a:p>
            <a:pPr>
              <a:spcAft>
                <a:spcPts val="1300"/>
              </a:spcAft>
              <a:defRPr sz="1900" b="0">
                <a:solidFill>
                  <a:srgbClr val="222222"/>
                </a:solidFill>
              </a:defRPr>
            </a:pPr>
            <a:r>
              <a:t>8. 임계값 재검토 — 진짜 최적은 어디였나</a:t>
            </a:r>
          </a:p>
          <a:p>
            <a:pPr>
              <a:spcAft>
                <a:spcPts val="1300"/>
              </a:spcAft>
              <a:defRPr sz="1900" b="0">
                <a:solidFill>
                  <a:srgbClr val="222222"/>
                </a:solidFill>
              </a:defRPr>
            </a:pPr>
            <a:r>
              <a:t>9. 왜 임계값 바꿔서 처음부터 다시 안 돌렸나</a:t>
            </a:r>
          </a:p>
          <a:p>
            <a:pPr>
              <a:spcAft>
                <a:spcPts val="1300"/>
              </a:spcAft>
              <a:defRPr sz="1900" b="0">
                <a:solidFill>
                  <a:srgbClr val="222222"/>
                </a:solidFill>
              </a:defRPr>
            </a:pPr>
            <a:r>
              <a:t>10. 전체 과정 요약 &amp; 다음 단계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1. ver1의 한계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왜 ver2가 필요했나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22222"/>
                </a:solidFill>
              </a:defRPr>
            </a:pPr>
            <a:r>
              <a:t>ver1: 가설별로 미리 정한 조합 5개(+옵션1개)를 비교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555555"/>
                </a:solidFill>
              </a:defRPr>
            </a:pPr>
            <a:r>
              <a:t>각자 가설(몰아쓰기, 업종위험, 시간대 등) 안에서만 변수를 골라 조합함</a:t>
            </a:r>
          </a:p>
          <a:p>
            <a:pPr>
              <a:spcAft>
                <a:spcPts val="1200"/>
              </a:spcAft>
              <a:defRPr sz="1800" b="1">
                <a:solidFill>
                  <a:srgbClr val="B83A2E"/>
                </a:solidFill>
              </a:defRPr>
            </a:pPr>
            <a:r>
              <a:t>문제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555555"/>
                </a:solidFill>
              </a:defRPr>
            </a:pPr>
            <a:r>
              <a:t>사람이 미리 정한 조합일 뿐, “이게 최선인지”는 검증 안 됨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555555"/>
                </a:solidFill>
              </a:defRPr>
            </a:pPr>
            <a:r>
              <a:t>실제로 fraud_full_features.csv엔 ver1에서 안 써본 새 변수들이 이미 있었음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555555"/>
                </a:solidFill>
              </a:defRPr>
            </a:pPr>
            <a:r>
              <a:t>(outside_trans_hours_80, merchant_change_count, rolling_sum_amt_1h, amt_to_prior_median_ratio 등)</a:t>
            </a:r>
          </a:p>
          <a:p>
            <a:pPr>
              <a:spcAft>
                <a:spcPts val="1200"/>
              </a:spcAft>
              <a:defRPr sz="1800" b="1">
                <a:solidFill>
                  <a:srgbClr val="2E5BB8"/>
                </a:solidFill>
              </a:defRPr>
            </a:pPr>
            <a:r>
              <a:t>→ 그래서 ver2: 사람이 조합을 정하지 않고, 데이터가 직접 “최선의 조합”을 찾게 함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2. ver2 방법론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베이스라인 → 전진선택 → 후진제거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 b="1">
                <a:solidFill>
                  <a:srgbClr val="2E5BB8"/>
                </a:solidFill>
              </a:defRPr>
            </a:pPr>
            <a:r>
              <a:t>① 베이스라인</a:t>
            </a:r>
          </a:p>
          <a:p>
            <a:pPr lvl="1">
              <a:spcAft>
                <a:spcPts val="1000"/>
              </a:spcAft>
              <a:defRPr sz="1550" b="0">
                <a:solidFill>
                  <a:srgbClr val="555555"/>
                </a:solidFill>
              </a:defRPr>
            </a:pPr>
            <a:r>
              <a:t>제일 강력한 변수 1개만 가지고 시작</a:t>
            </a:r>
          </a:p>
          <a:p>
            <a:pPr>
              <a:spcAft>
                <a:spcPts val="1000"/>
              </a:spcAft>
              <a:defRPr sz="1750" b="1">
                <a:solidFill>
                  <a:srgbClr val="2E5BB8"/>
                </a:solidFill>
              </a:defRPr>
            </a:pPr>
            <a:r>
              <a:t>② 전진선택 (Forward Selection)</a:t>
            </a:r>
          </a:p>
          <a:p>
            <a:pPr lvl="1">
              <a:spcAft>
                <a:spcPts val="1000"/>
              </a:spcAft>
              <a:defRPr sz="1550" b="0">
                <a:solidFill>
                  <a:srgbClr val="555555"/>
                </a:solidFill>
              </a:defRPr>
            </a:pPr>
            <a:r>
              <a:t>남은 후보를 매번 하나씩 더해보고, 성능이 제일 많이 오르는 것만 채택</a:t>
            </a:r>
          </a:p>
          <a:p>
            <a:pPr lvl="1">
              <a:spcAft>
                <a:spcPts val="1000"/>
              </a:spcAft>
              <a:defRPr sz="1550" b="0">
                <a:solidFill>
                  <a:srgbClr val="555555"/>
                </a:solidFill>
              </a:defRPr>
            </a:pPr>
            <a:r>
              <a:t>어떤 후보를 넣어도 더 이상 유의미하게 안 오르면 멈춤</a:t>
            </a:r>
          </a:p>
          <a:p>
            <a:pPr>
              <a:spcAft>
                <a:spcPts val="1000"/>
              </a:spcAft>
              <a:defRPr sz="1750" b="1">
                <a:solidFill>
                  <a:srgbClr val="2E5BB8"/>
                </a:solidFill>
              </a:defRPr>
            </a:pPr>
            <a:r>
              <a:t>③ 후진제거 (Backward Elimination)</a:t>
            </a:r>
          </a:p>
          <a:p>
            <a:pPr lvl="1">
              <a:spcAft>
                <a:spcPts val="1000"/>
              </a:spcAft>
              <a:defRPr sz="1550" b="0">
                <a:solidFill>
                  <a:srgbClr val="555555"/>
                </a:solidFill>
              </a:defRPr>
            </a:pPr>
            <a:r>
              <a:t>다 채택한 다음, 하나씩 빼보고 “빼도 성능이 거의 안 떨어지면” 영구 제거</a:t>
            </a:r>
          </a:p>
          <a:p>
            <a:pPr lvl="1">
              <a:spcAft>
                <a:spcPts val="1000"/>
              </a:spcAft>
              <a:defRPr sz="1550" b="0">
                <a:solidFill>
                  <a:srgbClr val="555555"/>
                </a:solidFill>
              </a:defRPr>
            </a:pPr>
            <a:r>
              <a:t>→ 모델이 더 단순해지는 이득이 크므로 제거</a:t>
            </a:r>
          </a:p>
          <a:p>
            <a:pPr>
              <a:spcAft>
                <a:spcPts val="1000"/>
              </a:spcAft>
              <a:defRPr sz="1750" b="1">
                <a:solidFill>
                  <a:srgbClr val="555555"/>
                </a:solidFill>
              </a:defRPr>
            </a:pPr>
            <a:r>
              <a:t>비유: 꼭 필요한 사람만 남을 때까지, 팀원을 한 명씩 넣어보고 빼보면서 최종 팀을 꾸리는 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3. XGBoost 조기종료(Early Stopping)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22222"/>
                </a:solidFill>
              </a:defRPr>
            </a:pPr>
            <a:r>
              <a:t>기존(ver1): 트리 개수를 300개로 고정</a:t>
            </a:r>
          </a:p>
          <a:p>
            <a:pPr>
              <a:spcAft>
                <a:spcPts val="1200"/>
              </a:spcAft>
              <a:defRPr sz="1800" b="1">
                <a:solidFill>
                  <a:srgbClr val="222222"/>
                </a:solidFill>
              </a:defRPr>
            </a:pPr>
            <a:r>
              <a:t>ver2: 트리를 최대 1000개까지 허용하되, 검증 데이터 성능이 30번 연속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555555"/>
                </a:solidFill>
              </a:defRPr>
            </a:pPr>
            <a:r>
              <a:t>더 안 좋아지면 자동으로 멈춤(early_stopping_rounds=30)</a:t>
            </a:r>
          </a:p>
          <a:p>
            <a:pPr>
              <a:spcAft>
                <a:spcPts val="1200"/>
              </a:spcAft>
              <a:defRPr sz="1800" b="1">
                <a:solidFill>
                  <a:srgbClr val="2E5BB8"/>
                </a:solidFill>
              </a:defRPr>
            </a:pPr>
            <a:r>
              <a:t>왜 이렇게 바꿨나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555555"/>
                </a:solidFill>
              </a:defRPr>
            </a:pPr>
            <a:r>
              <a:t>트리 개수를 사람이 감으로 정하지 않고, “더 배울 게 없다”고 데이터가 판단할 때까지만 학습시키기 위해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555555"/>
                </a:solidFill>
              </a:defRPr>
            </a:pPr>
            <a:r>
              <a:t>실제로 최종모델은 774개, 어떤 조합은 몇십 개에서 멈추는 등 조합마다 자동으로 다르게 결정됨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4. 실험 설계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데이터 3등분 + 후보 변수 27개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50" b="1">
                <a:solidFill>
                  <a:srgbClr val="2E5BB8"/>
                </a:solidFill>
              </a:defRPr>
            </a:pPr>
            <a:r>
              <a:t>데이터를 3부분으로 시간순 분할</a:t>
            </a:r>
          </a:p>
          <a:p>
            <a:pPr lvl="1">
              <a:spcAft>
                <a:spcPts val="1100"/>
              </a:spcAft>
              <a:defRPr sz="1550" b="0">
                <a:solidFill>
                  <a:srgbClr val="555555"/>
                </a:solidFill>
              </a:defRPr>
            </a:pPr>
            <a:r>
              <a:t>train_fit (88만건) — 실제로 트리를 학습시키는 데이터</a:t>
            </a:r>
          </a:p>
          <a:p>
            <a:pPr lvl="1">
              <a:spcAft>
                <a:spcPts val="1100"/>
              </a:spcAft>
              <a:defRPr sz="1550" b="0">
                <a:solidFill>
                  <a:srgbClr val="555555"/>
                </a:solidFill>
              </a:defRPr>
            </a:pPr>
            <a:r>
              <a:t>train_val (15.6만건) — 조기종료 판단용 (test와 별개!)</a:t>
            </a:r>
          </a:p>
          <a:p>
            <a:pPr lvl="1">
              <a:spcAft>
                <a:spcPts val="1100"/>
              </a:spcAft>
              <a:defRPr sz="1550" b="0">
                <a:solidFill>
                  <a:srgbClr val="555555"/>
                </a:solidFill>
              </a:defRPr>
            </a:pPr>
            <a:r>
              <a:t>test (25.9만건) — 최종 평가, 딱 한 번만 사용</a:t>
            </a:r>
          </a:p>
          <a:p>
            <a:pPr>
              <a:spcAft>
                <a:spcPts val="1100"/>
              </a:spcAft>
              <a:defRPr sz="1750" b="1">
                <a:solidFill>
                  <a:srgbClr val="2E5BB8"/>
                </a:solidFill>
              </a:defRPr>
            </a:pPr>
            <a:r>
              <a:t>왜 3등분인가</a:t>
            </a:r>
          </a:p>
          <a:p>
            <a:pPr lvl="1">
              <a:spcAft>
                <a:spcPts val="1100"/>
              </a:spcAft>
              <a:defRPr sz="1550" b="0">
                <a:solidFill>
                  <a:srgbClr val="555555"/>
                </a:solidFill>
              </a:defRPr>
            </a:pPr>
            <a:r>
              <a:t>조기종료를 test로 판단하면 test 정보가 모델 설계에 스며듦(치팅) → 별도 검증셋 필요</a:t>
            </a:r>
          </a:p>
          <a:p>
            <a:pPr>
              <a:spcAft>
                <a:spcPts val="1100"/>
              </a:spcAft>
              <a:defRPr sz="1750" b="1">
                <a:solidFill>
                  <a:srgbClr val="2E5BB8"/>
                </a:solidFill>
              </a:defRPr>
            </a:pPr>
            <a:r>
              <a:t>후보 변수 27개 단위</a:t>
            </a:r>
          </a:p>
          <a:p>
            <a:pPr lvl="1">
              <a:spcAft>
                <a:spcPts val="1100"/>
              </a:spcAft>
              <a:defRPr sz="1550" b="0">
                <a:solidFill>
                  <a:srgbClr val="555555"/>
                </a:solidFill>
              </a:defRPr>
            </a:pPr>
            <a:r>
              <a:t>fraud_full_features.csv에 있는 사용 가능한 변수 전부 (category 원-핫 14개는 하나로 묶음)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5. STEP 1~4 결과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임계값 탐색부터 최종 변수 확정까지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63040"/>
          <a:ext cx="1142999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5937"/>
                <a:gridCol w="4643437"/>
                <a:gridCol w="5000625"/>
              </a:tblGrid>
              <a:tr h="841248">
                <a:tc>
                  <a:txBody>
                    <a:bodyPr/>
                    <a:lstStyle/>
                    <a:p>
                      <a:pPr>
                        <a:defRPr b="1" sz="1350">
                          <a:solidFill>
                            <a:srgbClr val="FFFFFF"/>
                          </a:solidFill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50">
                          <a:solidFill>
                            <a:srgbClr val="FFFFFF"/>
                          </a:solidFill>
                        </a:defRPr>
                      </a:pPr>
                      <a:r>
                        <a:t>한 일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50">
                          <a:solidFill>
                            <a:srgbClr val="FFFFFF"/>
                          </a:solidFill>
                        </a:defRPr>
                      </a:pPr>
                      <a:r>
                        <a:t>결과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STEP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전체 40개 컬럼 넣은 참고모델로</a:t>
                      </a:r>
                    </a:p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임계값 0.90~0.99 스윕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F1 최고점: 0.90 (일단 고정)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STEP 2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27개 후보 각각 단독으로</a:t>
                      </a:r>
                    </a:p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PR-AUC 순위 매김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1등: recent_24h_high_amt_count</a:t>
                      </a:r>
                    </a:p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(PR-AUC 0.380) → 베이스라인 채택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STEP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전진선택 — 6라운드 진행,</a:t>
                      </a:r>
                    </a:p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총 141회 시도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0.380 → 0.971까지 상승,</a:t>
                      </a:r>
                    </a:p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6개 변수 채택 후 종료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STEP 4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후진제거 — 6개 변수</a:t>
                      </a:r>
                    </a:p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하나씩 제거 시도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다 빼면 유의미하게 떨어져서</a:t>
                      </a:r>
                    </a:p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6개 전부 유지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85216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5BB8"/>
                </a:solidFill>
              </a:defRPr>
            </a:pPr>
            <a:r>
              <a:t>총 약 177개의 서로 다른 변수조합을 실제로 XGBoost에 학습시켜서 비교함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최종 변수 6개 — 전진선택 과정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463040"/>
          <a:ext cx="94183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4580"/>
                <a:gridCol w="4709160"/>
                <a:gridCol w="235458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라운드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추가된 변수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PR-AUC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베이스라인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recent_24h_high_amt_count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0.380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amt_to_prior_median_ratio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0.708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0.861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amt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0.930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trans_hour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0.952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age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22222"/>
                          </a:solidFill>
                        </a:defRPr>
                      </a:pPr>
                      <a:r>
                        <a:t>0.971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486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8B57"/>
                </a:solidFill>
              </a:defRPr>
            </a:pPr>
            <a:r>
              <a:t>ver1 최고 조합(PR-AUC 0.895)보다 확실히 좋아짐 — 그리고 변수도 6개뿐이라 더 단순함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6. 최종 결과에서 발견된 의심 지점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B83A2E"/>
                </a:solidFill>
              </a:defRPr>
            </a:pPr>
            <a:r>
              <a:t>PR-AUC 0.971, 재현율 93.8% — 불균형 사기탐지 문제치고 비정상적으로 높음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555555"/>
                </a:solidFill>
              </a:defRPr>
            </a:pPr>
            <a:r>
              <a:t>“성능이 너무 잘 나오면 오히려 의심하라”는 원칙에 정확히 해당</a:t>
            </a:r>
          </a:p>
          <a:p>
            <a:pPr>
              <a:spcAft>
                <a:spcPts val="1200"/>
              </a:spcAft>
              <a:defRPr sz="1800" b="1">
                <a:solidFill>
                  <a:srgbClr val="B83A2E"/>
                </a:solidFill>
              </a:defRPr>
            </a:pPr>
            <a:r>
              <a:t>의심 지점 ①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555555"/>
                </a:solidFill>
              </a:defRPr>
            </a:pPr>
            <a:r>
              <a:t>amt_to_prior_median_ratio가 라운드1에서 PR-AUC를 0.38→0.71로 거의 2배 튀게 만든 주범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555555"/>
                </a:solidFill>
              </a:defRPr>
            </a:pPr>
            <a:r>
              <a:t>이 변수는 검증 안 된 신규 변수 — 계산 코드를 본 적 없었음</a:t>
            </a:r>
          </a:p>
          <a:p>
            <a:pPr>
              <a:spcAft>
                <a:spcPts val="1200"/>
              </a:spcAft>
              <a:defRPr sz="1800" b="1">
                <a:solidFill>
                  <a:srgbClr val="B83A2E"/>
                </a:solidFill>
              </a:defRPr>
            </a:pPr>
            <a:r>
              <a:t>의심 지점 ②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555555"/>
                </a:solidFill>
              </a:defRPr>
            </a:pPr>
            <a:r>
              <a:t>최종 상관계수 체크에서 amt_to_prior_median_ratio ↔ amt = 0.966 (매우 높음, 중복 의심)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7. 검증 — 데이터 누수 확인 과정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995" cy="3105785"/>
          </a:xfrm>
          <a:prstGeom prst="rect">
            <a:avLst/>
          </a:prstGeom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spcAft>
                <a:spcPts val="900"/>
              </a:spcAft>
              <a:buFontTx/>
              <a:buNone/>
              <a:defRPr sz="1650" b="1">
                <a:solidFill>
                  <a:srgbClr val="2E5BB8"/>
                </a:solidFill>
              </a:defRPr>
            </a:pPr>
            <a:r>
              <a:rPr/>
              <a:t>실제 계산 코드를 받아서 직접 확인함</a:t>
            </a:r>
            <a:endParaRPr lang="ko-KR" altLang="en-US"/>
          </a:p>
          <a:p>
            <a:pPr marL="0" indent="0" lvl="1">
              <a:spcAft>
                <a:spcPts val="900"/>
              </a:spcAft>
              <a:buFontTx/>
              <a:buNone/>
              <a:defRPr sz="1450" b="0">
                <a:solidFill>
                  <a:srgbClr val="555555"/>
                </a:solidFill>
              </a:defRPr>
            </a:pPr>
            <a:r>
              <a:rPr/>
              <a:t>df['normal_amt'] = amt.where(is_fraud==0)  — 사기거래는 제외하고 기준선 계산</a:t>
            </a:r>
            <a:endParaRPr lang="ko-KR" altLang="en-US"/>
          </a:p>
          <a:p>
            <a:pPr marL="0" indent="0" lvl="1">
              <a:spcAft>
                <a:spcPts val="900"/>
              </a:spcAft>
              <a:buFontTx/>
              <a:buNone/>
              <a:defRPr sz="1450" b="0">
                <a:solidFill>
                  <a:srgbClr val="555555"/>
                </a:solidFill>
              </a:defRPr>
            </a:pPr>
            <a:r>
              <a:rPr/>
              <a:t>.shift(1).expanding().median()  — 이번 거래를 뺀, 그 이전까지의 누적 중앙값</a:t>
            </a:r>
            <a:endParaRPr lang="ko-KR" altLang="en-US"/>
          </a:p>
          <a:p>
            <a:pPr marL="0" indent="0">
              <a:spcAft>
                <a:spcPts val="900"/>
              </a:spcAft>
              <a:buFontTx/>
              <a:buNone/>
              <a:defRPr sz="1650" b="1">
                <a:solidFill>
                  <a:srgbClr val="2E8B57"/>
                </a:solidFill>
              </a:defRPr>
            </a:pPr>
            <a:r>
              <a:rPr/>
              <a:t>확인 결과: leak-safe하게 잘 설계됨</a:t>
            </a:r>
            <a:endParaRPr lang="ko-KR" altLang="en-US"/>
          </a:p>
          <a:p>
            <a:pPr marL="0" indent="0" lvl="1">
              <a:spcAft>
                <a:spcPts val="900"/>
              </a:spcAft>
              <a:buFontTx/>
              <a:buNone/>
              <a:defRPr sz="1450" b="0">
                <a:solidFill>
                  <a:srgbClr val="555555"/>
                </a:solidFill>
              </a:defRPr>
            </a:pPr>
            <a:r>
              <a:rPr/>
              <a:t>shift(1)을 먼저 하고 나서 누적계산 — “직전 기록만 사용” 원칙을 정확히 지킴</a:t>
            </a:r>
            <a:endParaRPr lang="ko-KR" altLang="en-US"/>
          </a:p>
          <a:p>
            <a:pPr marL="0" indent="0" lvl="1">
              <a:spcAft>
                <a:spcPts val="900"/>
              </a:spcAft>
              <a:buFontTx/>
              <a:buNone/>
              <a:defRPr sz="1450" b="0">
                <a:solidFill>
                  <a:srgbClr val="555555"/>
                </a:solidFill>
              </a:defRPr>
            </a:pPr>
            <a:r>
              <a:rPr/>
              <a:t>(단, 이 계산 전에 cc_num·시간순 정렬이 됐는지는 나겸님 확인 필요 — 진행 중)</a:t>
            </a:r>
            <a:endParaRPr lang="ko-KR" altLang="en-US"/>
          </a:p>
          <a:p>
            <a:pPr marL="0" indent="0">
              <a:spcAft>
                <a:spcPts val="900"/>
              </a:spcAft>
              <a:buFontTx/>
              <a:buNone/>
              <a:defRPr sz="1650" b="1">
                <a:solidFill>
                  <a:srgbClr val="2E5BB8"/>
                </a:solidFill>
              </a:defRPr>
            </a:pPr>
            <a:r>
              <a:rPr/>
              <a:t>그럼 왜 이렇게 강력했나</a:t>
            </a:r>
            <a:endParaRPr lang="ko-KR" altLang="en-US"/>
          </a:p>
          <a:p>
            <a:pPr marL="0" indent="0" lvl="1">
              <a:spcAft>
                <a:spcPts val="900"/>
              </a:spcAft>
              <a:buFontTx/>
              <a:buNone/>
              <a:defRPr sz="1450" b="0">
                <a:solidFill>
                  <a:srgbClr val="555555"/>
                </a:solidFill>
              </a:defRPr>
            </a:pPr>
            <a:r>
              <a:rPr/>
              <a:t>이 데이터셋 자체가 사기거래를 평소 대비 훨씬 큰 금액으로 만들어놓은 특징이 있음</a:t>
            </a:r>
            <a:endParaRPr lang="ko-KR" altLang="en-US"/>
          </a:p>
          <a:p>
            <a:pPr marL="0" indent="0" lvl="1">
              <a:spcAft>
                <a:spcPts val="900"/>
              </a:spcAft>
              <a:buFontTx/>
              <a:buNone/>
              <a:defRPr sz="1450" b="0">
                <a:solidFill>
                  <a:srgbClr val="555555"/>
                </a:solidFill>
              </a:defRPr>
            </a:pPr>
            <a:r>
              <a:rPr/>
              <a:t>(세진님 EDA: 사기거래 평소 대비 6.91배 vs 정상거래 0.97배 — 같은 현상을 이 변수가 더 정교하게 포착)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8. 임계값 재검토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진짜 최적은 어디였나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 b="1">
                <a:solidFill>
                  <a:srgbClr val="B83A2E"/>
                </a:solidFill>
              </a:defRPr>
            </a:pPr>
            <a:r>
              <a:t>STEP 1에서 정한 0.90은 “참고모델(변수 40개)” 기준이었지,</a:t>
            </a:r>
          </a:p>
          <a:p>
            <a:pPr lvl="1">
              <a:spcAft>
                <a:spcPts val="1300"/>
              </a:spcAft>
              <a:defRPr sz="1600" b="0">
                <a:solidFill>
                  <a:srgbClr val="555555"/>
                </a:solidFill>
              </a:defRPr>
            </a:pPr>
            <a:r>
              <a:t>최종모델(변수 6개) 기준이 아니었음</a:t>
            </a:r>
          </a:p>
          <a:p>
            <a:pPr>
              <a:spcAft>
                <a:spcPts val="1300"/>
              </a:spcAft>
              <a:defRPr sz="1800" b="1">
                <a:solidFill>
                  <a:srgbClr val="2E5BB8"/>
                </a:solidFill>
              </a:defRPr>
            </a:pPr>
            <a:r>
              <a:t>최종모델로 다시 스윕</a:t>
            </a:r>
          </a:p>
          <a:p>
            <a:pPr lvl="1">
              <a:spcAft>
                <a:spcPts val="1300"/>
              </a:spcAft>
              <a:defRPr sz="1600" b="0">
                <a:solidFill>
                  <a:srgbClr val="555555"/>
                </a:solidFill>
              </a:defRPr>
            </a:pPr>
            <a:r>
              <a:t>1차: 0.10~0.95 → 2차: 0.90~0.99 정밀 → 3차: 0.95~0.995 초정밀</a:t>
            </a:r>
          </a:p>
          <a:p>
            <a:pPr lvl="1">
              <a:spcAft>
                <a:spcPts val="1300"/>
              </a:spcAft>
              <a:defRPr sz="1600" b="0">
                <a:solidFill>
                  <a:srgbClr val="555555"/>
                </a:solidFill>
              </a:defRPr>
            </a:pPr>
            <a:r>
              <a:t>결과: F1이 0.90→0.98→0.985(최고)→0.990에서 상승 후 하락 — 진짜 정점 확인</a:t>
            </a:r>
          </a:p>
          <a:p>
            <a:pPr>
              <a:spcAft>
                <a:spcPts val="1300"/>
              </a:spcAft>
              <a:defRPr sz="1800" b="1">
                <a:solidFill>
                  <a:srgbClr val="2E8B57"/>
                </a:solidFill>
              </a:defRPr>
            </a:pPr>
            <a:r>
              <a:t>최종 발견: 0.985가 진짜 최적 (F1 0.9288, 참고모델 기준 0.90보다 더 좋음)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3개 임계값 최종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63040"/>
          <a:ext cx="1142999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2222"/>
                <a:gridCol w="1693333"/>
                <a:gridCol w="1552222"/>
                <a:gridCol w="1834444"/>
                <a:gridCol w="1693333"/>
                <a:gridCol w="1693333"/>
                <a:gridCol w="1411111"/>
              </a:tblGrid>
              <a:tr h="59436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Threshold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잡은 사기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놓친 사기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오탐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0.900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88.68%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93.76%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0.9115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1,442건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96건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184건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0.985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96.50%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89.53%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0.9288 ←최고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1,377건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161건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50건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0.990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97.49%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88.23%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0.9263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1,357건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181건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35건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206240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E5BB8"/>
                </a:solidFill>
              </a:defRPr>
            </a:pPr>
            <a:r>
              <a:t>0.90 → 0.985로 바꾸면</a:t>
            </a:r>
          </a:p>
          <a:p>
            <a:pPr>
              <a:spcBef>
                <a:spcPts val="600"/>
              </a:spcBef>
              <a:defRPr sz="1600">
                <a:solidFill>
                  <a:srgbClr val="555555"/>
                </a:solidFill>
              </a:defRPr>
            </a:pPr>
            <a:r>
              <a:t>• 오탐: 184건 → 50건 (73% 감소, 정상 고객이 억울하게 걸리는 일이 크게 줄어듦)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• 놓친 사기: 96건 → 161건 (재현율을 일부 희생하는 트레이드오프)</a:t>
            </a:r>
          </a:p>
          <a:p>
            <a:pPr>
              <a:spcBef>
                <a:spcPts val="1000"/>
              </a:spcBef>
              <a:defRPr sz="1600" b="1">
                <a:solidFill>
                  <a:srgbClr val="B83A2E"/>
                </a:solidFill>
              </a:defRPr>
            </a:pPr>
            <a:r>
              <a:t>→ “정확도 최적(F1)” 관점에서는 0.985가 정답, 다만 팀이 재현율/정밀도 중 뭘 우선할지는 별도 논의 필요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" name="TextBox 1"/>
          <p:cNvSpPr txBox="1">
            <a:spLocks/>
          </p:cNvSpPr>
          <p:nvPr/>
        </p:nvSpPr>
        <p:spPr>
          <a:xfrm rot="0">
            <a:off x="548640" y="320040"/>
            <a:ext cx="11064875" cy="73787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  <a:defRPr sz="2800" b="1">
                <a:solidFill>
                  <a:srgbClr val="222222"/>
                </a:solidFill>
              </a:defRPr>
            </a:pPr>
            <a:r>
              <a:rPr/>
              <a:t>팀 제출용 후보 4개</a:t>
            </a:r>
            <a:endParaRPr lang="ko-KR" altLang="en-US"/>
          </a:p>
          <a:p>
            <a:pPr marL="0" indent="0">
              <a:buFontTx/>
              <a:buNone/>
              <a:defRPr sz="1400">
                <a:solidFill>
                  <a:srgbClr val="555555"/>
                </a:solidFill>
              </a:defRPr>
            </a:pPr>
            <a:endParaRPr lang="ko-KR" altLang="en-US"/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30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50"/>
                <a:gridCol w="4572000"/>
                <a:gridCol w="1285875"/>
                <a:gridCol w="1428750"/>
                <a:gridCol w="1285875"/>
                <a:gridCol w="1428750"/>
              </a:tblGrid>
              <a:tr h="658368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후보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변수 구성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PR-AUC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후보1 (6개)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전부 (recent_24h_high_amt_count,</a:t>
                      </a:r>
                    </a:p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amt_to_prior_median_ratio, category,</a:t>
                      </a:r>
                    </a:p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amt, trans_hour, 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0.9708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96.5%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89.5%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0.9288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후보2 (5개)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후보1에서 age 제외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0.9524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91.3%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87.7%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0.8946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후보3 (4개)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후보2에서 trans_hour도 제외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0.9301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93.5%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81.7%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0.8720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후보4 (3개)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후보3에서 amt도 제외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0.8614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89.7%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73.1%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22222"/>
                          </a:solidFill>
                        </a:defRPr>
                      </a:pPr>
                      <a:r>
                        <a:t>0.8054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02920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55555"/>
                </a:solidFill>
              </a:defRPr>
            </a:pPr>
            <a:r>
              <a:t>(모든 후보, 임계값 0.985 기준)</a:t>
            </a:r>
          </a:p>
          <a:p>
            <a:pPr>
              <a:spcBef>
                <a:spcPts val="800"/>
              </a:spcBef>
              <a:defRPr sz="1600">
                <a:solidFill>
                  <a:srgbClr val="2E5BB8"/>
                </a:solidFill>
              </a:defRPr>
            </a:pPr>
            <a:r>
              <a:t>완전히 새로운 조합이 아니라, 전진선택 라운드별 결과(3·4·5·6개 변수 버전)를 그대로 재사용</a:t>
            </a:r>
          </a:p>
          <a:p>
            <a:pPr>
              <a:spcBef>
                <a:spcPts val="400"/>
              </a:spcBef>
              <a:defRPr sz="1600">
                <a:solidFill>
                  <a:srgbClr val="555555"/>
                </a:solidFill>
              </a:defRPr>
            </a:pPr>
            <a:r>
              <a:t>변수를 뺄수록 성능이 계속 하락 → 후진제거 결과(6개 다 필요)와 일치. 검증 단계에서 6개짜리가 과적합으로 밀리면 후보2(5개)가 대안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9. 왜 임계값 바꿔서 처음부터 다시 안 돌렸나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중요 개념 — 팀에 공유할 가치 있음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50" b="1">
                <a:solidFill>
                  <a:srgbClr val="2E5BB8"/>
                </a:solidFill>
              </a:defRPr>
            </a:pPr>
            <a:r>
              <a:t>전진선택·후진제거는 PR-AUC 기준으로 변수를 추가/제거함</a:t>
            </a:r>
          </a:p>
          <a:p>
            <a:pPr lvl="1">
              <a:spcAft>
                <a:spcPts val="900"/>
              </a:spcAft>
              <a:defRPr sz="1450" b="0">
                <a:solidFill>
                  <a:srgbClr val="555555"/>
                </a:solidFill>
              </a:defRPr>
            </a:pPr>
            <a:r>
              <a:t>PR-AUC는 확률 분포 전체로 계산되는 지표라, 임계값(threshold)과 완전히 무관함</a:t>
            </a:r>
          </a:p>
          <a:p>
            <a:pPr>
              <a:spcAft>
                <a:spcPts val="900"/>
              </a:spcAft>
              <a:defRPr sz="1650" b="1">
                <a:solidFill>
                  <a:srgbClr val="2E5BB8"/>
                </a:solidFill>
              </a:defRPr>
            </a:pPr>
            <a:r>
              <a:t>그래서</a:t>
            </a:r>
          </a:p>
          <a:p>
            <a:pPr lvl="1">
              <a:spcAft>
                <a:spcPts val="900"/>
              </a:spcAft>
              <a:defRPr sz="1450" b="0">
                <a:solidFill>
                  <a:srgbClr val="555555"/>
                </a:solidFill>
              </a:defRPr>
            </a:pPr>
            <a:r>
              <a:t>임계값을 0.985나 0.990으로 바꿔서 베이스라인부터 다시 돌려도,</a:t>
            </a:r>
          </a:p>
          <a:p>
            <a:pPr lvl="1">
              <a:spcAft>
                <a:spcPts val="900"/>
              </a:spcAft>
              <a:defRPr sz="1450" b="0">
                <a:solidFill>
                  <a:srgbClr val="555555"/>
                </a:solidFill>
              </a:defRPr>
            </a:pPr>
            <a:r>
              <a:t>최종 채택되는 변수 6개는 100% 똑같이 나올 수밖에 없음</a:t>
            </a:r>
          </a:p>
          <a:p>
            <a:pPr lvl="1">
              <a:spcAft>
                <a:spcPts val="900"/>
              </a:spcAft>
              <a:defRPr sz="1450" b="0">
                <a:solidFill>
                  <a:srgbClr val="555555"/>
                </a:solidFill>
              </a:defRPr>
            </a:pPr>
            <a:r>
              <a:t>SHAP 해석도 마찬가지 — 모델의 원점수를 설명하는 거라 임계값과 무관</a:t>
            </a:r>
          </a:p>
          <a:p>
            <a:pPr>
              <a:spcAft>
                <a:spcPts val="900"/>
              </a:spcAft>
              <a:defRPr sz="1650" b="1">
                <a:solidFill>
                  <a:srgbClr val="2E8B57"/>
                </a:solidFill>
              </a:defRPr>
            </a:pPr>
            <a:r>
              <a:t>그래서 한 것</a:t>
            </a:r>
          </a:p>
          <a:p>
            <a:pPr lvl="1">
              <a:spcAft>
                <a:spcPts val="900"/>
              </a:spcAft>
              <a:defRPr sz="1450" b="0">
                <a:solidFill>
                  <a:srgbClr val="555555"/>
                </a:solidFill>
              </a:defRPr>
            </a:pPr>
            <a:r>
              <a:t>이미 학습된 최종 모델의 확률값만 재활용해서, 재학습 없이 임계값별 confusion matrix만 다시 계산</a:t>
            </a:r>
          </a:p>
          <a:p>
            <a:pPr lvl="1">
              <a:spcAft>
                <a:spcPts val="900"/>
              </a:spcAft>
              <a:defRPr sz="1450" b="0">
                <a:solidFill>
                  <a:srgbClr val="555555"/>
                </a:solidFill>
              </a:defRPr>
            </a:pPr>
            <a:r>
              <a:t>(20~40분씩 두 번 다시 돌릴 필요 없이 몇 초 만에 끝남)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10. 전체 과정 요약 (숫자로)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9168"/>
                <a:gridCol w="7997952"/>
              </a:tblGrid>
              <a:tr h="600891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내용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시도한 변수조합 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약 177개 (ver1의 5개 조합보다 훨씬 넓은 탐색)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최종 채택 변수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6개 (recent_24h_high_amt_count, amt_to_prior_median_ratio,</a:t>
                      </a:r>
                    </a:p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category, amt, trans_hour, age)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최종 성능 (PR-AUC)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0.971 (ver1 최고 0.895보다 개선)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추천 임계값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0.985 (Precision 96.5%, Recall 89.5%, F1 0.9288)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트리 개수 결정 방식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고정(300) → 조기종료로 자동 결정(최종 774개)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팀 제출 후보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22222"/>
                          </a:solidFill>
                        </a:defRPr>
                      </a:pPr>
                      <a:r>
                        <a:t>4개 (6/5/4/3개 변수 버전, PR-AUC 0.971~0.861)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다음 단계 / 팀 논의 필요사항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 b="1">
                <a:solidFill>
                  <a:srgbClr val="B83A2E"/>
                </a:solidFill>
              </a:defRPr>
            </a:pPr>
            <a:r>
              <a:t>① amt_to_prior_median_ratio 계산 시 정렬 여부, 나겸님께 최종 확인 (검증 마무리)</a:t>
            </a:r>
          </a:p>
          <a:p>
            <a:pPr>
              <a:spcAft>
                <a:spcPts val="1300"/>
              </a:spcAft>
              <a:defRPr sz="1800" b="1">
                <a:solidFill>
                  <a:srgbClr val="B83A2E"/>
                </a:solidFill>
              </a:defRPr>
            </a:pPr>
            <a:r>
              <a:t>② 임계값 0.90 vs 0.985 중 팀이 재현율/정밀도 우선순위 논의해서 확정</a:t>
            </a:r>
          </a:p>
          <a:p>
            <a:pPr>
              <a:spcAft>
                <a:spcPts val="1300"/>
              </a:spcAft>
              <a:defRPr sz="1800" b="1">
                <a:solidFill>
                  <a:srgbClr val="B83A2E"/>
                </a:solidFill>
              </a:defRPr>
            </a:pPr>
            <a:r>
              <a:t>③ amt ↔ amt_to_prior_median_ratio(상관 0.966) 둘 다 유지할지,</a:t>
            </a:r>
          </a:p>
          <a:p>
            <a:pPr lvl="1">
              <a:spcAft>
                <a:spcPts val="1300"/>
              </a:spcAft>
              <a:defRPr sz="1600" b="0">
                <a:solidFill>
                  <a:srgbClr val="555555"/>
                </a:solidFill>
              </a:defRPr>
            </a:pPr>
            <a:r>
              <a:t>하나로 줄일지 추가 실험 고려</a:t>
            </a:r>
          </a:p>
          <a:p>
            <a:pPr>
              <a:spcAft>
                <a:spcPts val="1300"/>
              </a:spcAft>
              <a:defRPr sz="1800" b="1">
                <a:solidFill>
                  <a:srgbClr val="2E5BB8"/>
                </a:solidFill>
              </a:defRPr>
            </a:pPr>
            <a:r>
              <a:t>④ 다른 모델(로지스틱회귀·랜덤포레스트·LightGBM)도 같은 방식</a:t>
            </a:r>
          </a:p>
          <a:p>
            <a:pPr lvl="1">
              <a:spcAft>
                <a:spcPts val="1300"/>
              </a:spcAft>
              <a:defRPr sz="1600" b="0">
                <a:solidFill>
                  <a:srgbClr val="555555"/>
                </a:solidFill>
              </a:defRPr>
            </a:pPr>
            <a:r>
              <a:t>(베이스라인→전진선택→후진제거)으로 최적 조합을 찾아서 공정하게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825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FDS 프로젝트 · XGBoost 변수조합 ver2 전체 과정 · 다영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16</Pages>
  <Paragraphs>0</Paragraphs>
  <Words>0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정다영</cp:lastModifiedBy>
  <cp:version>11.115.227.56384</cp:version>
  <dcterms:modified xsi:type="dcterms:W3CDTF">2013-01-27T09:15:58Z</dcterms:modified>
</cp:coreProperties>
</file>