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3333"/>
                </a:solidFill>
                <a:latin typeface="Arial"/>
              </a:rPr>
              <a:t>최근 24시간 내 고액결제 반복 횟수 (평균)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최근 24시간 내 고액결제 반복 횟수 (평균)</c:v>
                </c:pt>
              </c:strCache>
            </c:strRef>
          </c:tx>
          <c:spPr>
            <a:solidFill>
              <a:srgbClr val="3B6E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정상거래</c:v>
                  </c:pt>
                  <c:pt idx="1">
                    <c:v>사기거래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0.039</c:v>
                </c:pt>
                <c:pt idx="1">
                  <c:v>1.693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3333"/>
                </a:solidFill>
                <a:latin typeface="Arial"/>
              </a:rPr>
              <a:t>업종별 최근 7일 사기비율 (평균,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업종별 최근 7일 사기비율 (평균, %)</c:v>
                </c:pt>
              </c:strCache>
            </c:strRef>
          </c:tx>
          <c:spPr>
            <a:solidFill>
              <a:srgbClr val="3B6E8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정상거래</c:v>
                  </c:pt>
                  <c:pt idx="1">
                    <c:v>사기거래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0.573</c:v>
                </c:pt>
                <c:pt idx="1">
                  <c:v>1.187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검정 및 최종 변수 선정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이상거래 탐지(FDS) 프로젝트  ·  담당: 가설 2 · 3 (다영)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이 작업은 왜 하는가</a:t>
            </a:r>
            <a:endParaRPr lang="en-US" sz="20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가설 2 검증 — 짧은 시간 고액 반복결제</a:t>
            </a:r>
            <a:endParaRPr lang="en-US" sz="20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가설 3 검증 — 업종별 동적 사기율</a:t>
            </a:r>
            <a:endParaRPr lang="en-US" sz="20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추가 검증 — 거리 · 속도</a:t>
            </a:r>
            <a:endParaRPr lang="en-US" sz="20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교차분석 — 두 위험요인을 같이 보면?</a:t>
            </a:r>
            <a:endParaRPr lang="en-US" sz="20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최종 변수 선정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작업은 전체 분석 중 어디에 해당할까?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DCE7EE"/>
          </a:solidFill>
          <a:ln w="15875">
            <a:solidFill>
              <a:srgbClr val="3B6E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(완료)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331720" y="17373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87752" y="17373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3B6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1737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세우기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87952" y="17373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3984" y="17373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3B6E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737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(우연인지 확인)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44184" y="17373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0216" y="17373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3B6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0216" y="1737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효과크기·신뢰구간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·검정력 확인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0416" y="17373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56448" y="17373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3B6E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737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변수와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교차분석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56648" y="173736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17373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3B6E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1737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변수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338328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EDA에서 눈으로 관찰한 패턴이 “진짜 의미 있는 차이”인지 통계적으로 확인하고,</a:t>
            </a:r>
            <a:endParaRPr lang="en-US" sz="17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결과를 바탕으로 예측 모델에 어떤 변수를 넣을지 최종 결정하는 단계입니다.</a:t>
            </a:r>
            <a:endParaRPr lang="en-US" sz="17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자료는 담당 가설 2 · 가설 3에 대해 이 전체 과정을 진행한 결과입니다.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분석에서 사용한 통계 검정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389120"/>
              </a:tblGrid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사용한 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8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가설2 (연속형 vs 사기여부, 단측)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정규성 검정(Shapiro-Wilk+KS) → Welch's t-검정 + Mann-Whitney U 검정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정규성 기각(p≈0, 0에 치우친 분포) → Mann-Whitney U를 주 검정으로, Welch's t는 참고용. H0·H1이 여집합이 되도록 방향(단측)을 맞춤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가설3(a) - 업종 (범주형 vs 범주형, 양측)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카이제곱 검정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 없는 일반 관련성 검정이라 양측 (정규성 검정 대상 아님)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가설3(b) - 업종별 동적 사기율 (연속형, 단측)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정규성 검정(Shapiro-Wilk+KS) → Mann-Whitney U 검정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정규성 기각(p≈0) → 비모수 검정인 Mann-Whitney U 사용, 가설2와 동일하게 단측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상관계수 자체의 유의성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상관계수 유의성 검정 (point-biserial / Pearson)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상관계수가 0과 통계적으로 다른지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교차분석 (상호작용 효과)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로지스틱 회귀 상호작용항(Wald 검정) + 우도비검정(Likelihood Ratio Test)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변수를 같이 볼 때 결합 효과가 통계적으로 유의한지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2 — 짧은 시간 고액 반복결제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가설의 배경: 카드가 도용되면, 정지되기 전에 최대한 많이 쓰려는 경향이 있다 (burst spending)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만든 변수: recent_24h_high_amt_count</a:t>
            </a:r>
            <a:endParaRPr lang="en-US" sz="18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이 카드가 최근 24시간 안에 500달러 이상 결제를 몇 번 했는지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H1(대립가설): 사기거래 집단의 평균 횟수가 정상거래 집단의 평균보다 크다 (μ사기 &gt; μ정상)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H0(귀무가설): 사기거래 집단의 평균 횟수는 정상거래 집단의 평균보다 작거나 같다 (μ사기 ≤ μ정상)</a:t>
            </a:r>
            <a:endParaRPr lang="en-US" sz="18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H0·H1이 서로 여집합이 되도록 방향(단측)을 맞춰 정리함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2 — 정말 차이가 있을까? (통계 검정)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4173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126480" y="155448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정상거래는 평균 0.039번(거의 안 함), 사기거래는 평균 1.693번(거의 2번은 함)</a:t>
            </a:r>
            <a:endParaRPr lang="en-US" sz="15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약 43배 차이</a:t>
            </a:r>
            <a:endParaRPr lang="en-US" sz="15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차이가 우연히 나올 확률(p-value)은 사실상 0% → 우연이 아니라 진짜 차이</a:t>
            </a:r>
            <a:endParaRPr lang="en-US" sz="15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한쪽에 몰려있는 분포라 Welch's t-검정(등분산 가정 없음) + Mann-Whitney U 검정(둘 다 단측) 2가지로 교차 확인했고, 둘 다 같은 결론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2 — 얼마나 확실한 차이인가?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DCE7E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6E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84.4%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무작위로 뽑은 사기거래가 정상거래보다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횟수가 더 많을 확률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DCE7EE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0" y="17830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6E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309360" y="28803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정도 차이가 실제로 있다면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놓치지 않고 잡아낼 확률 (검정력)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확인한 변수 중 이상거래를 가장 강력하게 구분해주는 신호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3 — 업종별 동적 사기율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문제의식: 업종별 사기 위험도는 시간이 지나면 바뀔 수 있다 (Data Drift)</a:t>
            </a:r>
            <a:endParaRPr lang="en-US" sz="18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작년엔 비교적 안전했던 업종이 요즘은 위험해질 수 있음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만든 변수: category_recent_fraud_rate</a:t>
            </a:r>
            <a:endParaRPr lang="en-US" sz="18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이 거래의 업종에서 최근 7일간 사기가 발생한 비율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category(범주형) — 양측: H0 관련 없음(독립) / H1 관련 있음(독립 아님)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category_recent_fraud_rate(연속형) — 단측: H1 μ사기 &gt; μ정상 / H0 μ사기 ≤ μ정상</a:t>
            </a:r>
            <a:endParaRPr lang="en-US" sz="18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(a)는 방향 없는 일반 관련성 검정이라 양측, (b)는 '더 높다'는 방향이 있어 단측으로 나눔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3 — 정말 차이가 있을까?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4173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126480" y="155448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업종(category)과 사기 여부의 관련성 → 카이제곱 검정: 관련 있음 확인 (p≈0)</a:t>
            </a:r>
            <a:endParaRPr lang="en-US" sz="15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category_recent_fraud_rate 값 자체는 정상거래(0.573%)보다 사기거래(1.187%) 쪽이 약 2배 높음</a:t>
            </a:r>
            <a:endParaRPr lang="en-US" sz="15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차이 → Mann-Whitney U 검정(단측)으로 확인, 역시 우연이 아님 (p≈0)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3 — 얼마나 확실한 차이인가?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DCE7E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6E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73.2%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무작위로 뽑은 사기거래가 정상거래보다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값이 더 클 확률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DCE7EE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0" y="17830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6E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309360" y="28803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정도 차이가 실제로 있다면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놓치지 않고 잡아낼 확률 (검정력)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가설2보다는 약하지만, 방향성 있는 유의미한 차이</a:t>
            </a: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검정력 100%는 “데이터가 충분하다”는 뜻이지 “효과가 크다”는 뜻이 아님 — 효과 자체는 약한 편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검증 — 거리 · 속도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가정: 집에서 먼 가맹점일수록, 이동 속도가 빠를수록 위험할 것이다</a:t>
            </a:r>
            <a:endParaRPr lang="en-US" sz="17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H0: 상관계수 = 0(관련 없음) / H1: 상관계수 ≠ 0(관련 있음) — 방향은 탐색적 가정일 뿐이라 양측검정 사용</a:t>
            </a:r>
            <a:endParaRPr lang="en-US" sz="17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(distance_km_2)</a:t>
            </a:r>
            <a:endParaRPr lang="en-US" sz="17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여부와의 관련성이 사실상 0 (p=0.693, 우연과 통계적으로 구분 안 됨)</a:t>
            </a:r>
            <a:endParaRPr lang="en-US" sz="17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실제로 무관함이 확인되어 최종 변수에서 제외</a:t>
            </a:r>
            <a:endParaRPr lang="en-US" sz="17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(speed_2)</a:t>
            </a:r>
            <a:endParaRPr lang="en-US" sz="17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관련성은 있음(p≈0)이지만, 그 크기는 매우 작음</a:t>
            </a:r>
            <a:endParaRPr lang="en-US" sz="1700" dirty="0"/>
          </a:p>
          <a:p>
            <a:pPr algn="l" lvl="1" marL="6858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단독으로 쓰기엔 근거가 약함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교차분석 — 두 위험요인을 같이 보면?</a:t>
            </a:r>
            <a:endParaRPr lang="en-US" sz="3000" dirty="0"/>
          </a:p>
        </p:txBody>
      </p:sp>
      <p:pic>
        <p:nvPicPr>
          <p:cNvPr id="3" name="Image 0" descr="C:/Users/user/AppData/Local/Temp/claude/C--Users-user-Desktop-bdai---BDAI/43016e99-879c-4e63-b20b-53da995554c5/scratchpad/heatmap_speed_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603504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0880" y="173736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속도, 반복횟수 각각 따로 보면 약한 신호</a:t>
            </a: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두 변수를 같이(조합해서) 보면?</a:t>
            </a: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고속(300km/h 이상) + 반복 4회 이상 조합에서</a:t>
            </a: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3B6E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사기율이 최대 86.7%까지 치솟음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교차분석 — 이 패턴, 통계적으로도 진짜일까?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“속도가 빠를수록 · 반복이 많을수록 부드럽게 비례해서 위험이 커진다”는 형태를 로지스틱 회귀 상호작용항(Wald 검정)으로 검정 → 유의하지 않음(p=0.487)</a:t>
            </a:r>
            <a:endParaRPr lang="en-US" sz="16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“특정 구간 조합”으로 나눠서 우도비검정(Likelihood Ratio Test)으로 다시 검정 → 뚜렷하게 유의함(p≈8.1e-17)</a:t>
            </a:r>
            <a:endParaRPr lang="en-US" sz="16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이 패턴은 우연이 아니라 진짜다. 다만 매끄럽게 비례하는 관계가 아니라, 특정 조합에서만 위험이 튀는 형태</a:t>
            </a:r>
            <a:endParaRPr lang="en-US" sz="165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가설2 변수 × 가설3 변수 (반복횟수 × 업종 사기율) 조합도 로지스틱 회귀 상호작용항(Wald 검정)에서 뚜렷하게 유의함 → 두 담당 가설이 서로 보강됨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변수 선정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64922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판단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8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recent_24h_high_amt_count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(최우선)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강력한 단일 변수 (상관계수 0.458, 검정력 100%)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category_recent_fraud_rate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효과는 약하지만 유의미, 반복횟수와 결합 시 더 강해짐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category (업종)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사기 여부와 확실히 관련 (카이제곱 검정 유의)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distance_km_2 (거리)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통계적으로 완전히 무관 (p=0.693)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speed_2 (속도)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효과 미미, 반복횟수와의 단순 결합도 비유의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반복횟수 × 업종사기율 (신규)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모델링 단계 후보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상호작용 뚜렷하게 유의 (p≈0)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요약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가설 2, 3 모두 통계적으로 유의미한 차이를 확인함 (우연이 아님)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가설2 (고액 반복결제)가 가장 강력한 단일 신호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가설3 (업종별 동적 사기율)은 약하지만 실재하는 신호이며, 가설2와 결합하면 더 강해짐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거리는 무관, 속도는 단독 효과 미미 → 모델링 단계에서 재검토 필요</a:t>
            </a: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팀 전체 파생변수 정리(중복 제거) 후 머신러닝 모델링 진행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2026-07-30T15:08:50Z</dcterms:created>
  <dcterms:modified xsi:type="dcterms:W3CDTF">2026-07-30T15:08:50Z</dcterms:modified>
</cp:coreProperties>
</file>